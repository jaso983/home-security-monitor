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50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</p:sldMasterIdLst>
  <p:notesMasterIdLst>
    <p:notesMasterId r:id="rId9"/>
  </p:notesMasterIdLst>
  <p:sldIdLst>
    <p:sldId id="256" r:id="rId8"/>
    <p:sldId id="273" r:id="rId10"/>
    <p:sldId id="257" r:id="rId11"/>
    <p:sldId id="258" r:id="rId12"/>
    <p:sldId id="259" r:id="rId13"/>
    <p:sldId id="260" r:id="rId14"/>
    <p:sldId id="268" r:id="rId15"/>
    <p:sldId id="271" r:id="rId16"/>
    <p:sldId id="263" r:id="rId17"/>
    <p:sldId id="269" r:id="rId18"/>
    <p:sldId id="264" r:id="rId19"/>
    <p:sldId id="265" r:id="rId20"/>
    <p:sldId id="266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16" userDrawn="1">
          <p15:clr>
            <a:srgbClr val="747775"/>
          </p15:clr>
        </p15:guide>
        <p15:guide id="2" pos="2928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16"/>
        <p:guide pos="2928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我的汇报到此结束，感谢各位老师和同学的聆听。如果大家有任何问题，欢迎提问。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6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tags" Target="../tags/tag3.xml"/><Relationship Id="rId35" Type="http://schemas.openxmlformats.org/officeDocument/2006/relationships/notesSlide" Target="../notesSlides/notesSlide3.xml"/><Relationship Id="rId34" Type="http://schemas.openxmlformats.org/officeDocument/2006/relationships/slideLayout" Target="../slideLayouts/slideLayout12.xml"/><Relationship Id="rId33" Type="http://schemas.openxmlformats.org/officeDocument/2006/relationships/tags" Target="../tags/tag24.xml"/><Relationship Id="rId32" Type="http://schemas.openxmlformats.org/officeDocument/2006/relationships/tags" Target="../tags/tag23.xml"/><Relationship Id="rId31" Type="http://schemas.openxmlformats.org/officeDocument/2006/relationships/tags" Target="../tags/tag22.xml"/><Relationship Id="rId30" Type="http://schemas.openxmlformats.org/officeDocument/2006/relationships/image" Target="../media/image16.svg"/><Relationship Id="rId3" Type="http://schemas.openxmlformats.org/officeDocument/2006/relationships/tags" Target="../tags/tag2.xml"/><Relationship Id="rId29" Type="http://schemas.openxmlformats.org/officeDocument/2006/relationships/image" Target="../media/image15.png"/><Relationship Id="rId28" Type="http://schemas.openxmlformats.org/officeDocument/2006/relationships/tags" Target="../tags/tag21.xml"/><Relationship Id="rId27" Type="http://schemas.openxmlformats.org/officeDocument/2006/relationships/tags" Target="../tags/tag20.xml"/><Relationship Id="rId26" Type="http://schemas.openxmlformats.org/officeDocument/2006/relationships/tags" Target="../tags/tag19.xml"/><Relationship Id="rId25" Type="http://schemas.openxmlformats.org/officeDocument/2006/relationships/tags" Target="../tags/tag18.xml"/><Relationship Id="rId24" Type="http://schemas.openxmlformats.org/officeDocument/2006/relationships/tags" Target="../tags/tag17.xml"/><Relationship Id="rId23" Type="http://schemas.openxmlformats.org/officeDocument/2006/relationships/tags" Target="../tags/tag16.xml"/><Relationship Id="rId22" Type="http://schemas.openxmlformats.org/officeDocument/2006/relationships/image" Target="../media/image14.svg"/><Relationship Id="rId21" Type="http://schemas.openxmlformats.org/officeDocument/2006/relationships/image" Target="../media/image13.png"/><Relationship Id="rId20" Type="http://schemas.openxmlformats.org/officeDocument/2006/relationships/tags" Target="../tags/tag15.xml"/><Relationship Id="rId2" Type="http://schemas.openxmlformats.org/officeDocument/2006/relationships/tags" Target="../tags/tag1.xml"/><Relationship Id="rId19" Type="http://schemas.openxmlformats.org/officeDocument/2006/relationships/tags" Target="../tags/tag14.xml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image" Target="../media/image12.svg"/><Relationship Id="rId13" Type="http://schemas.openxmlformats.org/officeDocument/2006/relationships/image" Target="../media/image11.png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svg"/><Relationship Id="rId8" Type="http://schemas.openxmlformats.org/officeDocument/2006/relationships/image" Target="../media/image23.png"/><Relationship Id="rId7" Type="http://schemas.openxmlformats.org/officeDocument/2006/relationships/image" Target="../media/image22.svg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28.svg"/><Relationship Id="rId12" Type="http://schemas.openxmlformats.org/officeDocument/2006/relationships/image" Target="../media/image27.png"/><Relationship Id="rId11" Type="http://schemas.openxmlformats.org/officeDocument/2006/relationships/image" Target="../media/image26.svg"/><Relationship Id="rId10" Type="http://schemas.openxmlformats.org/officeDocument/2006/relationships/image" Target="../media/image25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8.svg"/><Relationship Id="rId6" Type="http://schemas.openxmlformats.org/officeDocument/2006/relationships/image" Target="../media/image27.png"/><Relationship Id="rId5" Type="http://schemas.openxmlformats.org/officeDocument/2006/relationships/image" Target="../media/image32.jpeg"/><Relationship Id="rId4" Type="http://schemas.openxmlformats.org/officeDocument/2006/relationships/image" Target="../media/image31.jpeg"/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image" Target="../media/image34.svg"/><Relationship Id="rId52" Type="http://schemas.openxmlformats.org/officeDocument/2006/relationships/notesSlide" Target="../notesSlides/notesSlide6.xml"/><Relationship Id="rId51" Type="http://schemas.openxmlformats.org/officeDocument/2006/relationships/slideLayout" Target="../slideLayouts/slideLayout12.xml"/><Relationship Id="rId50" Type="http://schemas.openxmlformats.org/officeDocument/2006/relationships/tags" Target="../tags/tag61.xml"/><Relationship Id="rId5" Type="http://schemas.openxmlformats.org/officeDocument/2006/relationships/image" Target="../media/image33.png"/><Relationship Id="rId49" Type="http://schemas.openxmlformats.org/officeDocument/2006/relationships/tags" Target="../tags/tag60.xml"/><Relationship Id="rId48" Type="http://schemas.openxmlformats.org/officeDocument/2006/relationships/tags" Target="../tags/tag59.xml"/><Relationship Id="rId47" Type="http://schemas.openxmlformats.org/officeDocument/2006/relationships/image" Target="../media/image44.svg"/><Relationship Id="rId46" Type="http://schemas.openxmlformats.org/officeDocument/2006/relationships/image" Target="../media/image43.png"/><Relationship Id="rId45" Type="http://schemas.openxmlformats.org/officeDocument/2006/relationships/tags" Target="../tags/tag58.xml"/><Relationship Id="rId44" Type="http://schemas.openxmlformats.org/officeDocument/2006/relationships/tags" Target="../tags/tag57.xml"/><Relationship Id="rId43" Type="http://schemas.openxmlformats.org/officeDocument/2006/relationships/tags" Target="../tags/tag56.xml"/><Relationship Id="rId42" Type="http://schemas.openxmlformats.org/officeDocument/2006/relationships/tags" Target="../tags/tag55.xml"/><Relationship Id="rId41" Type="http://schemas.openxmlformats.org/officeDocument/2006/relationships/tags" Target="../tags/tag54.xml"/><Relationship Id="rId40" Type="http://schemas.openxmlformats.org/officeDocument/2006/relationships/tags" Target="../tags/tag53.xml"/><Relationship Id="rId4" Type="http://schemas.openxmlformats.org/officeDocument/2006/relationships/tags" Target="../tags/tag27.xml"/><Relationship Id="rId39" Type="http://schemas.openxmlformats.org/officeDocument/2006/relationships/image" Target="../media/image42.svg"/><Relationship Id="rId38" Type="http://schemas.openxmlformats.org/officeDocument/2006/relationships/image" Target="../media/image41.png"/><Relationship Id="rId37" Type="http://schemas.openxmlformats.org/officeDocument/2006/relationships/tags" Target="../tags/tag52.xml"/><Relationship Id="rId36" Type="http://schemas.openxmlformats.org/officeDocument/2006/relationships/tags" Target="../tags/tag51.xml"/><Relationship Id="rId35" Type="http://schemas.openxmlformats.org/officeDocument/2006/relationships/tags" Target="../tags/tag50.xml"/><Relationship Id="rId34" Type="http://schemas.openxmlformats.org/officeDocument/2006/relationships/tags" Target="../tags/tag49.xml"/><Relationship Id="rId33" Type="http://schemas.openxmlformats.org/officeDocument/2006/relationships/tags" Target="../tags/tag48.xml"/><Relationship Id="rId32" Type="http://schemas.openxmlformats.org/officeDocument/2006/relationships/tags" Target="../tags/tag47.xml"/><Relationship Id="rId31" Type="http://schemas.openxmlformats.org/officeDocument/2006/relationships/image" Target="../media/image40.svg"/><Relationship Id="rId30" Type="http://schemas.openxmlformats.org/officeDocument/2006/relationships/image" Target="../media/image39.png"/><Relationship Id="rId3" Type="http://schemas.openxmlformats.org/officeDocument/2006/relationships/tags" Target="../tags/tag26.xml"/><Relationship Id="rId29" Type="http://schemas.openxmlformats.org/officeDocument/2006/relationships/tags" Target="../tags/tag46.xml"/><Relationship Id="rId28" Type="http://schemas.openxmlformats.org/officeDocument/2006/relationships/tags" Target="../tags/tag45.xml"/><Relationship Id="rId27" Type="http://schemas.openxmlformats.org/officeDocument/2006/relationships/tags" Target="../tags/tag44.xml"/><Relationship Id="rId26" Type="http://schemas.openxmlformats.org/officeDocument/2006/relationships/tags" Target="../tags/tag43.xml"/><Relationship Id="rId25" Type="http://schemas.openxmlformats.org/officeDocument/2006/relationships/tags" Target="../tags/tag42.xml"/><Relationship Id="rId24" Type="http://schemas.openxmlformats.org/officeDocument/2006/relationships/tags" Target="../tags/tag41.xml"/><Relationship Id="rId23" Type="http://schemas.openxmlformats.org/officeDocument/2006/relationships/tags" Target="../tags/tag40.xml"/><Relationship Id="rId22" Type="http://schemas.openxmlformats.org/officeDocument/2006/relationships/image" Target="../media/image38.svg"/><Relationship Id="rId21" Type="http://schemas.openxmlformats.org/officeDocument/2006/relationships/image" Target="../media/image37.png"/><Relationship Id="rId20" Type="http://schemas.openxmlformats.org/officeDocument/2006/relationships/tags" Target="../tags/tag39.xml"/><Relationship Id="rId2" Type="http://schemas.openxmlformats.org/officeDocument/2006/relationships/tags" Target="../tags/tag25.xml"/><Relationship Id="rId19" Type="http://schemas.openxmlformats.org/officeDocument/2006/relationships/tags" Target="../tags/tag38.xml"/><Relationship Id="rId18" Type="http://schemas.openxmlformats.org/officeDocument/2006/relationships/tags" Target="../tags/tag37.xml"/><Relationship Id="rId17" Type="http://schemas.openxmlformats.org/officeDocument/2006/relationships/tags" Target="../tags/tag36.xml"/><Relationship Id="rId16" Type="http://schemas.openxmlformats.org/officeDocument/2006/relationships/tags" Target="../tags/tag35.xml"/><Relationship Id="rId15" Type="http://schemas.openxmlformats.org/officeDocument/2006/relationships/tags" Target="../tags/tag34.xml"/><Relationship Id="rId14" Type="http://schemas.openxmlformats.org/officeDocument/2006/relationships/image" Target="../media/image36.svg"/><Relationship Id="rId13" Type="http://schemas.openxmlformats.org/officeDocument/2006/relationships/image" Target="../media/image35.png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3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0.svg"/><Relationship Id="rId8" Type="http://schemas.openxmlformats.org/officeDocument/2006/relationships/image" Target="../media/image49.png"/><Relationship Id="rId7" Type="http://schemas.openxmlformats.org/officeDocument/2006/relationships/image" Target="../media/image18.svg"/><Relationship Id="rId6" Type="http://schemas.openxmlformats.org/officeDocument/2006/relationships/image" Target="../media/image48.png"/><Relationship Id="rId5" Type="http://schemas.openxmlformats.org/officeDocument/2006/relationships/image" Target="../media/image36.svg"/><Relationship Id="rId4" Type="http://schemas.openxmlformats.org/officeDocument/2006/relationships/image" Target="../media/image47.png"/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5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1.png"/><Relationship Id="rId3" Type="http://schemas.microsoft.com/office/2007/relationships/media" Target="../media/media1.mp4"/><Relationship Id="rId2" Type="http://schemas.openxmlformats.org/officeDocument/2006/relationships/video" Target="../media/media1.mp4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52.png"/><Relationship Id="rId3" Type="http://schemas.microsoft.com/office/2007/relationships/media" Target="../media/media2.mp4"/><Relationship Id="rId2" Type="http://schemas.openxmlformats.org/officeDocument/2006/relationships/video" Target="../media/media2.mp4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tags" Target="../tags/tag70.xml"/><Relationship Id="rId31" Type="http://schemas.openxmlformats.org/officeDocument/2006/relationships/notesSlide" Target="../notesSlides/notesSlide11.xml"/><Relationship Id="rId30" Type="http://schemas.openxmlformats.org/officeDocument/2006/relationships/slideLayout" Target="../slideLayouts/slideLayout12.xml"/><Relationship Id="rId3" Type="http://schemas.openxmlformats.org/officeDocument/2006/relationships/tags" Target="../tags/tag69.xml"/><Relationship Id="rId29" Type="http://schemas.openxmlformats.org/officeDocument/2006/relationships/image" Target="../media/image28.svg"/><Relationship Id="rId28" Type="http://schemas.openxmlformats.org/officeDocument/2006/relationships/image" Target="../media/image27.png"/><Relationship Id="rId27" Type="http://schemas.openxmlformats.org/officeDocument/2006/relationships/image" Target="../media/image58.svg"/><Relationship Id="rId26" Type="http://schemas.openxmlformats.org/officeDocument/2006/relationships/image" Target="../media/image57.png"/><Relationship Id="rId25" Type="http://schemas.openxmlformats.org/officeDocument/2006/relationships/tags" Target="../tags/tag85.xml"/><Relationship Id="rId24" Type="http://schemas.openxmlformats.org/officeDocument/2006/relationships/tags" Target="../tags/tag84.xml"/><Relationship Id="rId23" Type="http://schemas.openxmlformats.org/officeDocument/2006/relationships/tags" Target="../tags/tag83.xml"/><Relationship Id="rId22" Type="http://schemas.openxmlformats.org/officeDocument/2006/relationships/image" Target="../media/image22.svg"/><Relationship Id="rId21" Type="http://schemas.openxmlformats.org/officeDocument/2006/relationships/image" Target="../media/image21.png"/><Relationship Id="rId20" Type="http://schemas.openxmlformats.org/officeDocument/2006/relationships/tags" Target="../tags/tag82.xml"/><Relationship Id="rId2" Type="http://schemas.openxmlformats.org/officeDocument/2006/relationships/tags" Target="../tags/tag68.xml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image" Target="../media/image56.svg"/><Relationship Id="rId13" Type="http://schemas.openxmlformats.org/officeDocument/2006/relationships/image" Target="../media/image55.png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image" Target="../media/image34.svg"/><Relationship Id="rId6" Type="http://schemas.openxmlformats.org/officeDocument/2006/relationships/image" Target="../media/image33.png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3" Type="http://schemas.openxmlformats.org/officeDocument/2006/relationships/notesSlide" Target="../notesSlides/notesSlide12.xml"/><Relationship Id="rId32" Type="http://schemas.openxmlformats.org/officeDocument/2006/relationships/slideLayout" Target="../slideLayouts/slideLayout12.xml"/><Relationship Id="rId31" Type="http://schemas.openxmlformats.org/officeDocument/2006/relationships/tags" Target="../tags/tag105.xml"/><Relationship Id="rId30" Type="http://schemas.openxmlformats.org/officeDocument/2006/relationships/tags" Target="../tags/tag104.xml"/><Relationship Id="rId3" Type="http://schemas.openxmlformats.org/officeDocument/2006/relationships/image" Target="../media/image60.jpeg"/><Relationship Id="rId29" Type="http://schemas.openxmlformats.org/officeDocument/2006/relationships/tags" Target="../tags/tag103.xml"/><Relationship Id="rId28" Type="http://schemas.openxmlformats.org/officeDocument/2006/relationships/image" Target="../media/image66.svg"/><Relationship Id="rId27" Type="http://schemas.openxmlformats.org/officeDocument/2006/relationships/image" Target="../media/image65.png"/><Relationship Id="rId26" Type="http://schemas.openxmlformats.org/officeDocument/2006/relationships/tags" Target="../tags/tag102.xml"/><Relationship Id="rId25" Type="http://schemas.openxmlformats.org/officeDocument/2006/relationships/tags" Target="../tags/tag101.xml"/><Relationship Id="rId24" Type="http://schemas.openxmlformats.org/officeDocument/2006/relationships/tags" Target="../tags/tag100.xml"/><Relationship Id="rId23" Type="http://schemas.openxmlformats.org/officeDocument/2006/relationships/tags" Target="../tags/tag99.xml"/><Relationship Id="rId22" Type="http://schemas.openxmlformats.org/officeDocument/2006/relationships/tags" Target="../tags/tag98.xml"/><Relationship Id="rId21" Type="http://schemas.openxmlformats.org/officeDocument/2006/relationships/image" Target="../media/image64.svg"/><Relationship Id="rId20" Type="http://schemas.openxmlformats.org/officeDocument/2006/relationships/image" Target="../media/image63.png"/><Relationship Id="rId2" Type="http://schemas.openxmlformats.org/officeDocument/2006/relationships/image" Target="../media/image59.jpeg"/><Relationship Id="rId19" Type="http://schemas.openxmlformats.org/officeDocument/2006/relationships/tags" Target="../tags/tag97.xml"/><Relationship Id="rId18" Type="http://schemas.openxmlformats.org/officeDocument/2006/relationships/tags" Target="../tags/tag96.xml"/><Relationship Id="rId17" Type="http://schemas.openxmlformats.org/officeDocument/2006/relationships/tags" Target="../tags/tag95.xml"/><Relationship Id="rId16" Type="http://schemas.openxmlformats.org/officeDocument/2006/relationships/tags" Target="../tags/tag94.xml"/><Relationship Id="rId15" Type="http://schemas.openxmlformats.org/officeDocument/2006/relationships/tags" Target="../tags/tag93.xml"/><Relationship Id="rId14" Type="http://schemas.openxmlformats.org/officeDocument/2006/relationships/image" Target="../media/image62.svg"/><Relationship Id="rId13" Type="http://schemas.openxmlformats.org/officeDocument/2006/relationships/image" Target="../media/image61.png"/><Relationship Id="rId12" Type="http://schemas.openxmlformats.org/officeDocument/2006/relationships/tags" Target="../tags/tag92.xml"/><Relationship Id="rId11" Type="http://schemas.openxmlformats.org/officeDocument/2006/relationships/tags" Target="../tags/tag91.xml"/><Relationship Id="rId10" Type="http://schemas.openxmlformats.org/officeDocument/2006/relationships/tags" Target="../tags/tag90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/>
              <a:t> </a:t>
            </a:r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Home Security Monitor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556000"/>
            <a:ext cx="1016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3937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家庭安防监控系统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70000" y="5461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课程设计答辩 · </a:t>
            </a:r>
            <a:r>
              <a:rPr lang="zh-CN" alt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家庭安全监控</a:t>
            </a:r>
            <a:endParaRPr lang="zh-CN" altLang="en-US" sz="16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团队成员与分工</a:t>
            </a:r>
            <a:endParaRPr lang="en-US" sz="1100"/>
          </a:p>
        </p:txBody>
      </p:sp>
      <p:sp>
        <p:nvSpPr>
          <p:cNvPr id="31" name="AutoShape 4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10B981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5"/>
          <p:cNvSpPr/>
          <p:nvPr/>
        </p:nvSpPr>
        <p:spPr>
          <a:xfrm>
            <a:off x="762000" y="2032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6"/>
          <p:cNvSpPr/>
          <p:nvPr/>
        </p:nvSpPr>
        <p:spPr>
          <a:xfrm>
            <a:off x="7620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35" name="AutoShape 8"/>
          <p:cNvSpPr/>
          <p:nvPr/>
        </p:nvSpPr>
        <p:spPr>
          <a:xfrm>
            <a:off x="1524000" y="2260600"/>
            <a:ext cx="2362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甘顺豪</a:t>
            </a:r>
            <a:endParaRPr lang="en-US" sz="1100"/>
          </a:p>
        </p:txBody>
      </p:sp>
      <p:cxnSp>
        <p:nvCxnSpPr>
          <p:cNvPr id="36" name="Connector 9"/>
          <p:cNvCxnSpPr/>
          <p:nvPr/>
        </p:nvCxnSpPr>
        <p:spPr>
          <a:xfrm rot="-15211">
            <a:off x="1016014" y="2978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7" name="AutoShape 10"/>
          <p:cNvSpPr/>
          <p:nvPr/>
        </p:nvSpPr>
        <p:spPr>
          <a:xfrm>
            <a:off x="1016000" y="3238500"/>
            <a:ext cx="2870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核心算法研发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负责YOLO检测器封装、AI模型选型与深度调优，主导火焰检测模型的集成与精度优化，保障算法核心性能。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8" name="AutoShape 11"/>
          <p:cNvSpPr/>
          <p:nvPr/>
        </p:nvSpPr>
        <p:spPr>
          <a:xfrm>
            <a:off x="1016000" y="5080000"/>
            <a:ext cx="2870200" cy="508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12"/>
          <p:cNvSpPr/>
          <p:nvPr/>
        </p:nvSpPr>
        <p:spPr>
          <a:xfrm>
            <a:off x="1143000" y="51435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工作量自评</a:t>
            </a:r>
            <a:endParaRPr lang="en-US" sz="1100"/>
          </a:p>
        </p:txBody>
      </p:sp>
      <p:sp>
        <p:nvSpPr>
          <p:cNvPr id="40" name="AutoShape 13"/>
          <p:cNvSpPr/>
          <p:nvPr/>
        </p:nvSpPr>
        <p:spPr>
          <a:xfrm>
            <a:off x="2540000" y="5105400"/>
            <a:ext cx="1219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90</a:t>
            </a:r>
            <a:endParaRPr lang="en-US" sz="1100"/>
          </a:p>
        </p:txBody>
      </p:sp>
      <p:sp>
        <p:nvSpPr>
          <p:cNvPr id="41" name="AutoShape 14"/>
          <p:cNvSpPr/>
          <p:nvPr/>
        </p:nvSpPr>
        <p:spPr>
          <a:xfrm>
            <a:off x="4406900" y="2032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AutoShape 15"/>
          <p:cNvSpPr/>
          <p:nvPr/>
        </p:nvSpPr>
        <p:spPr>
          <a:xfrm>
            <a:off x="44069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3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286000"/>
            <a:ext cx="406400" cy="406400"/>
          </a:xfrm>
          <a:prstGeom prst="rect">
            <a:avLst/>
          </a:prstGeom>
        </p:spPr>
      </p:pic>
      <p:sp>
        <p:nvSpPr>
          <p:cNvPr id="44" name="AutoShape 17"/>
          <p:cNvSpPr/>
          <p:nvPr/>
        </p:nvSpPr>
        <p:spPr>
          <a:xfrm>
            <a:off x="5168900" y="2260600"/>
            <a:ext cx="2362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张译元</a:t>
            </a:r>
            <a:endParaRPr lang="en-US" sz="1100"/>
          </a:p>
        </p:txBody>
      </p:sp>
      <p:cxnSp>
        <p:nvCxnSpPr>
          <p:cNvPr id="45" name="Connector 18"/>
          <p:cNvCxnSpPr/>
          <p:nvPr/>
        </p:nvCxnSpPr>
        <p:spPr>
          <a:xfrm rot="-15211">
            <a:off x="4660914" y="2978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6" name="AutoShape 19"/>
          <p:cNvSpPr/>
          <p:nvPr/>
        </p:nvSpPr>
        <p:spPr>
          <a:xfrm>
            <a:off x="4660900" y="3238500"/>
            <a:ext cx="2870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交互界面开发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负责Tkinter GUI界面开发，搭建视频监控、状态显示及历史记录面板，优化用户交互逻辑，提升系统易用性。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7" name="AutoShape 20"/>
          <p:cNvSpPr/>
          <p:nvPr/>
        </p:nvSpPr>
        <p:spPr>
          <a:xfrm>
            <a:off x="4660900" y="5080000"/>
            <a:ext cx="2870200" cy="508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AutoShape 21"/>
          <p:cNvSpPr/>
          <p:nvPr/>
        </p:nvSpPr>
        <p:spPr>
          <a:xfrm>
            <a:off x="4787900" y="51435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工作量自评</a:t>
            </a:r>
            <a:endParaRPr lang="en-US" sz="1100"/>
          </a:p>
        </p:txBody>
      </p:sp>
      <p:sp>
        <p:nvSpPr>
          <p:cNvPr id="49" name="AutoShape 22"/>
          <p:cNvSpPr/>
          <p:nvPr/>
        </p:nvSpPr>
        <p:spPr>
          <a:xfrm>
            <a:off x="6184900" y="5105400"/>
            <a:ext cx="1219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90</a:t>
            </a:r>
            <a:endParaRPr lang="en-US" sz="1100"/>
          </a:p>
        </p:txBody>
      </p:sp>
      <p:sp>
        <p:nvSpPr>
          <p:cNvPr id="50" name="AutoShape 23"/>
          <p:cNvSpPr/>
          <p:nvPr/>
        </p:nvSpPr>
        <p:spPr>
          <a:xfrm>
            <a:off x="8051800" y="2032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1" name="AutoShape 24"/>
          <p:cNvSpPr/>
          <p:nvPr/>
        </p:nvSpPr>
        <p:spPr>
          <a:xfrm>
            <a:off x="80518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2" name="Picture 2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5800" y="2286000"/>
            <a:ext cx="406400" cy="406400"/>
          </a:xfrm>
          <a:prstGeom prst="rect">
            <a:avLst/>
          </a:prstGeom>
        </p:spPr>
      </p:pic>
      <p:sp>
        <p:nvSpPr>
          <p:cNvPr id="53" name="AutoShape 26"/>
          <p:cNvSpPr/>
          <p:nvPr/>
        </p:nvSpPr>
        <p:spPr>
          <a:xfrm>
            <a:off x="8813800" y="2260600"/>
            <a:ext cx="2362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赖裕安</a:t>
            </a:r>
            <a:endParaRPr lang="en-US" sz="1100"/>
          </a:p>
        </p:txBody>
      </p:sp>
      <p:cxnSp>
        <p:nvCxnSpPr>
          <p:cNvPr id="54" name="Connector 27"/>
          <p:cNvCxnSpPr/>
          <p:nvPr/>
        </p:nvCxnSpPr>
        <p:spPr>
          <a:xfrm rot="-15211">
            <a:off x="8305814" y="2978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5" name="AutoShape 28"/>
          <p:cNvSpPr/>
          <p:nvPr/>
        </p:nvSpPr>
        <p:spPr>
          <a:xfrm>
            <a:off x="8305800" y="3238500"/>
            <a:ext cx="2870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测试与文档撰写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负责测试用例的设计与执行，编写系统测试文档，统筹并撰写课程设计报告，确保项目交付资料完整规范。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6" name="AutoShape 29"/>
          <p:cNvSpPr/>
          <p:nvPr/>
        </p:nvSpPr>
        <p:spPr>
          <a:xfrm>
            <a:off x="8305800" y="5080000"/>
            <a:ext cx="2870200" cy="508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7" name="AutoShape 30"/>
          <p:cNvSpPr/>
          <p:nvPr/>
        </p:nvSpPr>
        <p:spPr>
          <a:xfrm>
            <a:off x="8432800" y="51435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工作量自评</a:t>
            </a:r>
            <a:endParaRPr lang="en-US" sz="1100"/>
          </a:p>
        </p:txBody>
      </p:sp>
      <p:sp>
        <p:nvSpPr>
          <p:cNvPr id="58" name="AutoShape 31"/>
          <p:cNvSpPr/>
          <p:nvPr/>
        </p:nvSpPr>
        <p:spPr>
          <a:xfrm>
            <a:off x="9829800" y="5105400"/>
            <a:ext cx="1219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88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项目背景与痛点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762000" y="1778000"/>
            <a:ext cx="76200" cy="1714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2200" y="1968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651000" y="1930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被动响应，缺乏事前干预</a:t>
            </a:r>
            <a:endParaRPr lang="en-US" sz="1100"/>
          </a:p>
        </p:txBody>
      </p:sp>
      <p:cxnSp>
        <p:nvCxnSpPr>
          <p:cNvPr id="8" name="Connector 8"/>
          <p:cNvCxnSpPr/>
          <p:nvPr>
            <p:custDataLst>
              <p:tags r:id="rId8"/>
            </p:custDataLst>
          </p:nvPr>
        </p:nvCxnSpPr>
        <p:spPr>
          <a:xfrm rot="-9444">
            <a:off x="1092209" y="2533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1092200" y="2667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传统监控多为“事后诸葛亮”，仅支持录像回看，无法在火灾、入侵等危险发生的关键瞬间主动预警，错失最佳时机。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6223000" y="1778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6223000" y="1778000"/>
            <a:ext cx="76200" cy="1714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53200" y="1968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7112000" y="1930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传感器方案，误报干扰频发</a:t>
            </a:r>
            <a:endParaRPr lang="en-US" sz="1100"/>
          </a:p>
        </p:txBody>
      </p:sp>
      <p:cxnSp>
        <p:nvCxnSpPr>
          <p:cNvPr id="14" name="Connector 14"/>
          <p:cNvCxnSpPr/>
          <p:nvPr>
            <p:custDataLst>
              <p:tags r:id="rId16"/>
            </p:custDataLst>
          </p:nvPr>
        </p:nvCxnSpPr>
        <p:spPr>
          <a:xfrm rot="-9444">
            <a:off x="6553209" y="2533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6553200" y="2667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单纯依赖红外、微波等传感器，极易受宠物活动、温度变化、窗帘晃动等因素触发误报，不仅打扰用户生活，也降低了对真实警情的敏感度。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8"/>
            </p:custDataLst>
          </p:nvPr>
        </p:nvSpPr>
        <p:spPr>
          <a:xfrm>
            <a:off x="762000" y="3810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762000" y="3810000"/>
            <a:ext cx="76200" cy="1714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92200" y="4000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3"/>
            </p:custDataLst>
          </p:nvPr>
        </p:nvSpPr>
        <p:spPr>
          <a:xfrm>
            <a:off x="1651000" y="3962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设备繁杂，配置维护门槛高</a:t>
            </a:r>
            <a:endParaRPr lang="en-US" sz="1100"/>
          </a:p>
        </p:txBody>
      </p:sp>
      <p:cxnSp>
        <p:nvCxnSpPr>
          <p:cNvPr id="20" name="Connector 20"/>
          <p:cNvCxnSpPr/>
          <p:nvPr>
            <p:custDataLst>
              <p:tags r:id="rId24"/>
            </p:custDataLst>
          </p:nvPr>
        </p:nvCxnSpPr>
        <p:spPr>
          <a:xfrm rot="-9444">
            <a:off x="1092209" y="4565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>
            <p:custDataLst>
              <p:tags r:id="rId25"/>
            </p:custDataLst>
          </p:nvPr>
        </p:nvSpPr>
        <p:spPr>
          <a:xfrm>
            <a:off x="1092200" y="4699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各类安防设备品牌不一、协议不通，布线复杂且缺乏统一的管理界面，普通家庭用户难以完成初始配置，后续维护升级更是无从下手。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26"/>
            </p:custDataLst>
          </p:nvPr>
        </p:nvSpPr>
        <p:spPr>
          <a:xfrm>
            <a:off x="6223000" y="3810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>
            <p:custDataLst>
              <p:tags r:id="rId27"/>
            </p:custDataLst>
          </p:nvPr>
        </p:nvSpPr>
        <p:spPr>
          <a:xfrm>
            <a:off x="6223000" y="3810000"/>
            <a:ext cx="76200" cy="1714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553200" y="40005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>
            <p:custDataLst>
              <p:tags r:id="rId31"/>
            </p:custDataLst>
          </p:nvPr>
        </p:nvSpPr>
        <p:spPr>
          <a:xfrm>
            <a:off x="7112000" y="3962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云端存储，存在隐私泄露风险</a:t>
            </a:r>
            <a:endParaRPr lang="en-US" sz="1100"/>
          </a:p>
        </p:txBody>
      </p:sp>
      <p:cxnSp>
        <p:nvCxnSpPr>
          <p:cNvPr id="26" name="Connector 26"/>
          <p:cNvCxnSpPr/>
          <p:nvPr>
            <p:custDataLst>
              <p:tags r:id="rId32"/>
            </p:custDataLst>
          </p:nvPr>
        </p:nvCxnSpPr>
        <p:spPr>
          <a:xfrm rot="-9444">
            <a:off x="6553209" y="4565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>
            <p:custDataLst>
              <p:tags r:id="rId33"/>
            </p:custDataLst>
          </p:nvPr>
        </p:nvSpPr>
        <p:spPr>
          <a:xfrm>
            <a:off x="6553200" y="4699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视频数据上云，用户无法掌控数据流向，一旦云端服务器被攻击，家庭私密画面将面临泄露风险，安全底线难以保障。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2000" y="5778500"/>
            <a:ext cx="10668000" cy="825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1016000" y="58674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</a:t>
            </a: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主动预警 · 智能识别 · 本地运行 · 易于使用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的新一代家庭安防体系，全方位解决传统方案的四大核心痛点。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项目目标与核心功能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143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651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项目总目标：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开发一套基于AI的家庭安防监控系统，实现对火情和入侵事件的实时检测、智能报警与记录，全方位保障家庭环境安全，同时兼顾易用性与可追溯性。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238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87500" y="3149600"/>
            <a:ext cx="425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火情实时检测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全天候分析视频流，精准识别火焰与烟雾特征，一旦发现异常立即触发报警，将火灾隐患扼杀在萌芽阶段。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318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508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87500" y="4419600"/>
            <a:ext cx="425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布防时段入侵识别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支持自定义布防时间（默认23:00-06:00），自动检测画面中异常人员闯入行为，为夜间家庭安全提供可靠守护。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5245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5651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87500" y="5562600"/>
            <a:ext cx="425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智能防抖去重机制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内置防抖算法，对同类报警事件自动合并，有效避免重复报警对用户造成的频繁骚扰，提升体验。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86500" y="3048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3238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112000" y="3149600"/>
            <a:ext cx="425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报警自动存证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触发报警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自动抓拍现场画面，并保存至本地数据库，为事后调查、责任界定提供图像证据。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86500" y="4318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4508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112000" y="4419600"/>
            <a:ext cx="4254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可视化历史记录管理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提供直观的图形管理界面，支持按时间、事件类型快速检索、浏览和导出历史报警记录，数据管理高效便捷。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286500" y="55245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0" y="56515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112000" y="5562600"/>
            <a:ext cx="4254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GUI与CLI双模式运行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既提供友好的图形界面供普通用户日常操作，也支持命令行模式便于开发调试与自动化脚本集成，适配不同场景。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系统架构与技术栈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429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714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表现层 </a:t>
            </a:r>
            <a:r>
              <a:rPr lang="en-US" altLang="zh-CN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(GUI / CLI)</a:t>
            </a:r>
            <a:endParaRPr lang="en-US" altLang="zh-CN" sz="1800" b="1" i="0" u="none" strike="noStrike">
              <a:solidFill>
                <a:srgbClr val="10B98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14323">
            <a:off x="952513" y="2216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2413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 GUI 图形界面与 CLI 命令行两种交互方式，适配不同使用场景，确保用户操作便捷、直观，实现与系统的高效交互。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81500" y="1524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381500" y="1524000"/>
            <a:ext cx="3429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572000" y="1714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业务逻辑层 (</a:t>
            </a:r>
            <a:r>
              <a:rPr lang="en-US" altLang="zh-CN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Core</a:t>
            </a: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)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323">
            <a:off x="4572013" y="2216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572000" y="2413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负责处理报警防抖机制、数据库读写操作及业务流程调度，保障数据流转的准确性与逻辑的严谨性。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1524000"/>
            <a:ext cx="3429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001000" y="1524000"/>
            <a:ext cx="3429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191500" y="1714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模型层 (</a:t>
            </a:r>
            <a:r>
              <a:rPr lang="en-US" altLang="zh-CN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Models</a:t>
            </a: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)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323">
            <a:off x="8191513" y="2216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191500" y="2413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封装 YOLO 目标检测模型，专注于视频帧的 AI 推理计算，精准识别人员、火焰与烟雾等关键目标，为安全预警提供智能支撑。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4092">
            <a:off x="762004" y="393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762000" y="4318000"/>
            <a:ext cx="2032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89000" y="4445000"/>
            <a:ext cx="889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1905000" y="4445000"/>
            <a:ext cx="101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Python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89000" y="54610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3.11 版本作为主要开发语言，生态丰富，开发效率高。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048000" y="4318000"/>
            <a:ext cx="2032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3"/>
          <a:srcRect l="21162" r="21162"/>
          <a:stretch>
            <a:fillRect/>
          </a:stretch>
        </p:blipFill>
        <p:spPr>
          <a:xfrm>
            <a:off x="3175000" y="4445000"/>
            <a:ext cx="889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6" name="AutoShape 26"/>
          <p:cNvSpPr/>
          <p:nvPr/>
        </p:nvSpPr>
        <p:spPr>
          <a:xfrm>
            <a:off x="4191000" y="4445000"/>
            <a:ext cx="101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YOLOv8n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3175000" y="54610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轻量级模型实现实时检测，精准识别火焰、烟雾与人员目标。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5334000" y="4318000"/>
            <a:ext cx="2032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4"/>
          <a:srcRect l="16666" r="16666"/>
          <a:stretch>
            <a:fillRect/>
          </a:stretch>
        </p:blipFill>
        <p:spPr>
          <a:xfrm>
            <a:off x="5461000" y="4445000"/>
            <a:ext cx="889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0" name="AutoShape 30"/>
          <p:cNvSpPr/>
          <p:nvPr/>
        </p:nvSpPr>
        <p:spPr>
          <a:xfrm>
            <a:off x="6477000" y="4445000"/>
            <a:ext cx="101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SQLite3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5461000" y="54610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轻量级嵌入式数据库，无需配置，高效存储系统报警与日志记录。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620000" y="4318000"/>
            <a:ext cx="2032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5"/>
          <a:srcRect t="10980" b="10980"/>
          <a:stretch>
            <a:fillRect/>
          </a:stretch>
        </p:blipFill>
        <p:spPr>
          <a:xfrm>
            <a:off x="7747000" y="4445000"/>
            <a:ext cx="889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4" name="AutoShape 34"/>
          <p:cNvSpPr/>
          <p:nvPr/>
        </p:nvSpPr>
        <p:spPr>
          <a:xfrm>
            <a:off x="8763000" y="4445000"/>
            <a:ext cx="101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OpenCV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7747000" y="54610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负责视频流捕获、帧处理与图像保存，为AI推理提供基础数据。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9779000" y="4318000"/>
            <a:ext cx="2032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06000" y="4508500"/>
            <a:ext cx="762000" cy="762000"/>
          </a:xfrm>
          <a:prstGeom prst="rect">
            <a:avLst/>
          </a:prstGeom>
        </p:spPr>
      </p:pic>
      <p:sp>
        <p:nvSpPr>
          <p:cNvPr id="38" name="AutoShape 38"/>
          <p:cNvSpPr/>
          <p:nvPr/>
        </p:nvSpPr>
        <p:spPr>
          <a:xfrm>
            <a:off x="10795000" y="4508500"/>
            <a:ext cx="101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Tkinter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9906000" y="54610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提供直观、友好的桌面图形用户界面。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核心业务流程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524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762000" y="1524000"/>
            <a:ext cx="762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1714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651000" y="1651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视频采集：原始数据获取</a:t>
            </a:r>
            <a:endParaRPr lang="en-US" sz="1100"/>
          </a:p>
        </p:txBody>
      </p:sp>
      <p:cxnSp>
        <p:nvCxnSpPr>
          <p:cNvPr id="8" name="Connector 8"/>
          <p:cNvCxnSpPr/>
          <p:nvPr>
            <p:custDataLst>
              <p:tags r:id="rId8"/>
            </p:custDataLst>
          </p:nvPr>
        </p:nvCxnSpPr>
        <p:spPr>
          <a:xfrm rot="-9046">
            <a:off x="1016008" y="2216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1016000" y="23114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通过本地部署的监控摄像头实时捕获连续视频帧，为后续AI分析模块提供稳定、高清晰度的原始视觉数据来源。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762000" y="32385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762000" y="3238500"/>
            <a:ext cx="762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6000" y="3429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1651000" y="3365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时段判断：布防策略触发</a:t>
            </a:r>
            <a:endParaRPr lang="en-US" sz="1100"/>
          </a:p>
        </p:txBody>
      </p:sp>
      <p:cxnSp>
        <p:nvCxnSpPr>
          <p:cNvPr id="14" name="Connector 14"/>
          <p:cNvCxnSpPr/>
          <p:nvPr>
            <p:custDataLst>
              <p:tags r:id="rId16"/>
            </p:custDataLst>
          </p:nvPr>
        </p:nvCxnSpPr>
        <p:spPr>
          <a:xfrm rot="-9046">
            <a:off x="1016008" y="3930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1016000" y="40259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系统自动判定当前时间是否处于预设布防时段（23:00-06:00），仅在此窗口内启动人员入侵检测，减少非必要算力消耗。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8"/>
            </p:custDataLst>
          </p:nvPr>
        </p:nvSpPr>
        <p:spPr>
          <a:xfrm>
            <a:off x="762000" y="4953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762000" y="4953000"/>
            <a:ext cx="762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16000" y="5143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3"/>
            </p:custDataLst>
          </p:nvPr>
        </p:nvSpPr>
        <p:spPr>
          <a:xfrm>
            <a:off x="1651000" y="5080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AI双重检测：风险全覆盖</a:t>
            </a:r>
            <a:endParaRPr lang="en-US" sz="1100"/>
          </a:p>
        </p:txBody>
      </p:sp>
      <p:cxnSp>
        <p:nvCxnSpPr>
          <p:cNvPr id="20" name="Connector 20"/>
          <p:cNvCxnSpPr/>
          <p:nvPr>
            <p:custDataLst>
              <p:tags r:id="rId24"/>
            </p:custDataLst>
          </p:nvPr>
        </p:nvCxnSpPr>
        <p:spPr>
          <a:xfrm rot="-9046">
            <a:off x="1016008" y="5645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>
            <p:custDataLst>
              <p:tags r:id="rId25"/>
            </p:custDataLst>
          </p:nvPr>
        </p:nvSpPr>
        <p:spPr>
          <a:xfrm>
            <a:off x="1016000" y="57404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布防期运行人员检测模型，同时全天候并行火焰与烟雾检测模型，利用YOLO算法实现对安全隐患的毫秒级感知。</a:t>
            </a:r>
            <a:endParaRPr lang="en-US" sz="1100"/>
          </a:p>
        </p:txBody>
      </p:sp>
      <p:cxnSp>
        <p:nvCxnSpPr>
          <p:cNvPr id="22" name="Connector 22"/>
          <p:cNvCxnSpPr/>
          <p:nvPr>
            <p:custDataLst>
              <p:tags r:id="rId26"/>
            </p:custDataLst>
          </p:nvPr>
        </p:nvCxnSpPr>
        <p:spPr>
          <a:xfrm rot="5390953">
            <a:off x="3835400" y="3930658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>
            <p:custDataLst>
              <p:tags r:id="rId27"/>
            </p:custDataLst>
          </p:nvPr>
        </p:nvSpPr>
        <p:spPr>
          <a:xfrm>
            <a:off x="6413500" y="1524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>
            <p:custDataLst>
              <p:tags r:id="rId28"/>
            </p:custDataLst>
          </p:nvPr>
        </p:nvSpPr>
        <p:spPr>
          <a:xfrm>
            <a:off x="6413500" y="1524000"/>
            <a:ext cx="762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667500" y="17145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>
            <p:custDataLst>
              <p:tags r:id="rId32"/>
            </p:custDataLst>
          </p:nvPr>
        </p:nvSpPr>
        <p:spPr>
          <a:xfrm>
            <a:off x="7302500" y="1651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防抖判定：避免重复误报</a:t>
            </a:r>
            <a:endParaRPr lang="en-US" sz="1100"/>
          </a:p>
        </p:txBody>
      </p:sp>
      <p:cxnSp>
        <p:nvCxnSpPr>
          <p:cNvPr id="27" name="Connector 27"/>
          <p:cNvCxnSpPr/>
          <p:nvPr>
            <p:custDataLst>
              <p:tags r:id="rId33"/>
            </p:custDataLst>
          </p:nvPr>
        </p:nvCxnSpPr>
        <p:spPr>
          <a:xfrm rot="-9046">
            <a:off x="6667508" y="2216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>
            <p:custDataLst>
              <p:tags r:id="rId34"/>
            </p:custDataLst>
          </p:nvPr>
        </p:nvSpPr>
        <p:spPr>
          <a:xfrm>
            <a:off x="6667500" y="23114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检测到疑似目标后，交由AlarmManager模块进行防抖逻辑处理，过滤无效的重复报警信号。</a:t>
            </a:r>
            <a:endParaRPr lang="en-US" sz="1100"/>
          </a:p>
        </p:txBody>
      </p:sp>
      <p:sp>
        <p:nvSpPr>
          <p:cNvPr id="29" name="AutoShape 29"/>
          <p:cNvSpPr/>
          <p:nvPr>
            <p:custDataLst>
              <p:tags r:id="rId35"/>
            </p:custDataLst>
          </p:nvPr>
        </p:nvSpPr>
        <p:spPr>
          <a:xfrm>
            <a:off x="6413500" y="32385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>
            <p:custDataLst>
              <p:tags r:id="rId36"/>
            </p:custDataLst>
          </p:nvPr>
        </p:nvSpPr>
        <p:spPr>
          <a:xfrm>
            <a:off x="6413500" y="3238500"/>
            <a:ext cx="762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6667500" y="3429000"/>
            <a:ext cx="406400" cy="406400"/>
          </a:xfrm>
          <a:prstGeom prst="rect">
            <a:avLst/>
          </a:prstGeom>
        </p:spPr>
      </p:pic>
      <p:sp>
        <p:nvSpPr>
          <p:cNvPr id="32" name="AutoShape 32"/>
          <p:cNvSpPr/>
          <p:nvPr>
            <p:custDataLst>
              <p:tags r:id="rId40"/>
            </p:custDataLst>
          </p:nvPr>
        </p:nvSpPr>
        <p:spPr>
          <a:xfrm>
            <a:off x="7302500" y="3365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报警与存证：数据留存归档</a:t>
            </a:r>
            <a:endParaRPr lang="en-US" sz="1100"/>
          </a:p>
        </p:txBody>
      </p:sp>
      <p:cxnSp>
        <p:nvCxnSpPr>
          <p:cNvPr id="33" name="Connector 33"/>
          <p:cNvCxnSpPr/>
          <p:nvPr>
            <p:custDataLst>
              <p:tags r:id="rId41"/>
            </p:custDataLst>
          </p:nvPr>
        </p:nvCxnSpPr>
        <p:spPr>
          <a:xfrm rot="-9046">
            <a:off x="6667508" y="3930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>
            <p:custDataLst>
              <p:tags r:id="rId42"/>
            </p:custDataLst>
          </p:nvPr>
        </p:nvSpPr>
        <p:spPr>
          <a:xfrm>
            <a:off x="6667500" y="40259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确认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有效报警后，系统自动截取现场关键帧作为证据保存，并将报警时间、类型、截图路径等结构化信息完整写入数据库。</a:t>
            </a:r>
            <a:endParaRPr lang="zh-CN" alt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5" name="AutoShape 35"/>
          <p:cNvSpPr/>
          <p:nvPr>
            <p:custDataLst>
              <p:tags r:id="rId43"/>
            </p:custDataLst>
          </p:nvPr>
        </p:nvSpPr>
        <p:spPr>
          <a:xfrm>
            <a:off x="6413500" y="4953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>
            <p:custDataLst>
              <p:tags r:id="rId44"/>
            </p:custDataLst>
          </p:nvPr>
        </p:nvSpPr>
        <p:spPr>
          <a:xfrm>
            <a:off x="6413500" y="4953000"/>
            <a:ext cx="762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7" name="Picture 37"/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6667500" y="5143500"/>
            <a:ext cx="406400" cy="406400"/>
          </a:xfrm>
          <a:prstGeom prst="rect">
            <a:avLst/>
          </a:prstGeom>
        </p:spPr>
      </p:pic>
      <p:sp>
        <p:nvSpPr>
          <p:cNvPr id="38" name="AutoShape 38"/>
          <p:cNvSpPr/>
          <p:nvPr>
            <p:custDataLst>
              <p:tags r:id="rId48"/>
            </p:custDataLst>
          </p:nvPr>
        </p:nvSpPr>
        <p:spPr>
          <a:xfrm>
            <a:off x="7302500" y="5080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界面更新：实时可视化展示</a:t>
            </a:r>
            <a:endParaRPr lang="en-US" sz="1100"/>
          </a:p>
        </p:txBody>
      </p:sp>
      <p:cxnSp>
        <p:nvCxnSpPr>
          <p:cNvPr id="39" name="Connector 39"/>
          <p:cNvCxnSpPr/>
          <p:nvPr>
            <p:custDataLst>
              <p:tags r:id="rId49"/>
            </p:custDataLst>
          </p:nvPr>
        </p:nvCxnSpPr>
        <p:spPr>
          <a:xfrm rot="-9046">
            <a:off x="6667508" y="5645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" name="AutoShape 40"/>
          <p:cNvSpPr/>
          <p:nvPr>
            <p:custDataLst>
              <p:tags r:id="rId50"/>
            </p:custDataLst>
          </p:nvPr>
        </p:nvSpPr>
        <p:spPr>
          <a:xfrm>
            <a:off x="6667500" y="57404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GUI客户端实时渲染叠加了AI检测标注框的视频流，并动态刷新报警状态列表，确保管理人员能第一时间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了解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现场。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7" name="AutoShape 3"/>
          <p:cNvSpPr/>
          <p:nvPr/>
        </p:nvSpPr>
        <p:spPr>
          <a:xfrm>
            <a:off x="762000" y="454025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亮点一：双模型协同推理</a:t>
            </a:r>
            <a:endParaRPr lang="en-US" sz="1100"/>
          </a:p>
        </p:txBody>
      </p:sp>
      <p:sp>
        <p:nvSpPr>
          <p:cNvPr id="68" name="AutoShape 4"/>
          <p:cNvSpPr/>
          <p:nvPr/>
        </p:nvSpPr>
        <p:spPr>
          <a:xfrm>
            <a:off x="762000" y="112776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推理流程图</a:t>
            </a:r>
            <a:endParaRPr lang="en-US" sz="1100"/>
          </a:p>
        </p:txBody>
      </p:sp>
      <p:sp>
        <p:nvSpPr>
          <p:cNvPr id="69" name="AutoShape 5"/>
          <p:cNvSpPr/>
          <p:nvPr/>
        </p:nvSpPr>
        <p:spPr>
          <a:xfrm>
            <a:off x="532765" y="1741805"/>
            <a:ext cx="2159000" cy="1270635"/>
          </a:xfrm>
          <a:prstGeom prst="roundRect">
            <a:avLst>
              <a:gd name="adj" fmla="val 8000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10B981">
                <a:alpha val="60000"/>
              </a:srgbClr>
            </a:solidFill>
            <a:prstDash val="solid"/>
            <a:round/>
          </a:ln>
        </p:spPr>
        <p:txBody>
          <a:bodyPr vert="horz" wrap="square" lIns="127000" tIns="0" rIns="12700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获取视频帧</a:t>
            </a:r>
            <a:endParaRPr lang="en-US" sz="13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实时捕获本地视频帧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0" name="AutoShape 6"/>
          <p:cNvSpPr/>
          <p:nvPr>
            <p:custDataLst>
              <p:tags r:id="rId2"/>
            </p:custDataLst>
          </p:nvPr>
        </p:nvSpPr>
        <p:spPr>
          <a:xfrm>
            <a:off x="2978150" y="2192655"/>
            <a:ext cx="38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71" name="AutoShape 7"/>
          <p:cNvSpPr/>
          <p:nvPr>
            <p:custDataLst>
              <p:tags r:id="rId3"/>
            </p:custDataLst>
          </p:nvPr>
        </p:nvSpPr>
        <p:spPr>
          <a:xfrm>
            <a:off x="3645535" y="1741170"/>
            <a:ext cx="2139315" cy="1269365"/>
          </a:xfrm>
          <a:prstGeom prst="roundRect">
            <a:avLst>
              <a:gd name="adj" fmla="val 8000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10B981">
                <a:alpha val="60000"/>
              </a:srgbClr>
            </a:solidFill>
            <a:prstDash val="solid"/>
            <a:round/>
          </a:ln>
        </p:spPr>
        <p:txBody>
          <a:bodyPr vert="horz" wrap="square" lIns="127000" tIns="0" rIns="127000" bIns="0" rtlCol="0" anchor="ctr" anchorCtr="0"/>
          <a:lstStyle/>
          <a:p>
            <a:pPr marL="0" indent="0" algn="ctr">
              <a:lnSpc>
                <a:spcPct val="100000"/>
              </a:lnSpc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并行模型推理</a:t>
            </a:r>
            <a:endParaRPr lang="en-US" sz="13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多模型同时分析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2" name="AutoShape 8"/>
          <p:cNvSpPr/>
          <p:nvPr>
            <p:custDataLst>
              <p:tags r:id="rId4"/>
            </p:custDataLst>
          </p:nvPr>
        </p:nvSpPr>
        <p:spPr>
          <a:xfrm>
            <a:off x="6071235" y="2186305"/>
            <a:ext cx="38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73" name="AutoShape 9"/>
          <p:cNvSpPr/>
          <p:nvPr>
            <p:custDataLst>
              <p:tags r:id="rId5"/>
            </p:custDataLst>
          </p:nvPr>
        </p:nvSpPr>
        <p:spPr>
          <a:xfrm>
            <a:off x="6693535" y="1741805"/>
            <a:ext cx="2132965" cy="1271270"/>
          </a:xfrm>
          <a:prstGeom prst="roundRect">
            <a:avLst>
              <a:gd name="adj" fmla="val 8000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10B981">
                <a:alpha val="60000"/>
              </a:srgbClr>
            </a:solidFill>
            <a:prstDash val="solid"/>
            <a:round/>
          </a:ln>
        </p:spPr>
        <p:txBody>
          <a:bodyPr vert="horz" wrap="square" lIns="127000" tIns="0" rIns="127000" bIns="0" rtlCol="0" anchor="ctr" anchorCtr="0"/>
          <a:lstStyle/>
          <a:p>
            <a:pPr marL="0" indent="0" algn="ctr">
              <a:lnSpc>
                <a:spcPct val="100000"/>
              </a:lnSpc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结果融合与报警</a:t>
            </a:r>
            <a:endParaRPr lang="en-US" sz="13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合并结果触发报警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4" name="AutoShape 10"/>
          <p:cNvSpPr/>
          <p:nvPr>
            <p:custDataLst>
              <p:tags r:id="rId6"/>
            </p:custDataLst>
          </p:nvPr>
        </p:nvSpPr>
        <p:spPr>
          <a:xfrm>
            <a:off x="9067800" y="2186305"/>
            <a:ext cx="38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75" name="AutoShape 11"/>
          <p:cNvSpPr/>
          <p:nvPr>
            <p:custDataLst>
              <p:tags r:id="rId7"/>
            </p:custDataLst>
          </p:nvPr>
        </p:nvSpPr>
        <p:spPr>
          <a:xfrm>
            <a:off x="9690100" y="1741170"/>
            <a:ext cx="2032000" cy="1270000"/>
          </a:xfrm>
          <a:prstGeom prst="roundRect">
            <a:avLst>
              <a:gd name="adj" fmla="val 8000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10B981">
                <a:alpha val="60000"/>
              </a:srgbClr>
            </a:solidFill>
            <a:prstDash val="solid"/>
            <a:round/>
          </a:ln>
        </p:spPr>
        <p:txBody>
          <a:bodyPr vert="horz" wrap="square" lIns="127000" tIns="0" rIns="127000" bIns="0" rtlCol="0" anchor="ctr" anchorCtr="0"/>
          <a:lstStyle/>
          <a:p>
            <a:pPr marL="0" indent="0" algn="ctr">
              <a:lnSpc>
                <a:spcPct val="100000"/>
              </a:lnSpc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输出标注画面</a:t>
            </a:r>
            <a:endParaRPr lang="en-US" sz="13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GUI实时显示</a:t>
            </a:r>
            <a:endParaRPr lang="en-US" sz="10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6" name="AutoShape 12"/>
          <p:cNvSpPr/>
          <p:nvPr/>
        </p:nvSpPr>
        <p:spPr>
          <a:xfrm>
            <a:off x="762000" y="3293745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设计优势</a:t>
            </a:r>
            <a:endParaRPr lang="en-US" sz="1100"/>
          </a:p>
        </p:txBody>
      </p:sp>
      <p:sp>
        <p:nvSpPr>
          <p:cNvPr id="77" name="AutoShape 13"/>
          <p:cNvSpPr/>
          <p:nvPr/>
        </p:nvSpPr>
        <p:spPr>
          <a:xfrm>
            <a:off x="597535" y="3801745"/>
            <a:ext cx="5207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254000" tIns="0" rIns="19050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           🧩       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功能解耦，易于维护</a:t>
            </a:r>
            <a:endParaRPr lang="en-US" sz="13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58000"/>
              </a:lnSpc>
              <a:defRPr/>
            </a:pP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检测任务封装在独立模型中，修改或升级单个模型不影响其他功能。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8" name="AutoShape 14"/>
          <p:cNvSpPr/>
          <p:nvPr/>
        </p:nvSpPr>
        <p:spPr>
          <a:xfrm>
            <a:off x="6058535" y="3801745"/>
            <a:ext cx="5207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254000" tIns="0" rIns="19050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          🚀     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并行处理，效率更高</a:t>
            </a:r>
            <a:endParaRPr lang="en-US" sz="13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58000"/>
              </a:lnSpc>
              <a:defRPr/>
            </a:pP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模型并行运行利用CPU多核性能，确保低配置下也能实时处理。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9" name="AutoShape 15"/>
          <p:cNvSpPr/>
          <p:nvPr/>
        </p:nvSpPr>
        <p:spPr>
          <a:xfrm>
            <a:off x="597535" y="5134610"/>
            <a:ext cx="5207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254000" tIns="0" rIns="19050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           ➕       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灵活扩展，面向未来</a:t>
            </a:r>
            <a:endParaRPr lang="en-US" sz="13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38000"/>
              </a:lnSpc>
              <a:defRPr/>
            </a:pP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新增检测功能只需新增模型类并调用，系统架构无需大改。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0" name="AutoShape 16"/>
          <p:cNvSpPr/>
          <p:nvPr/>
        </p:nvSpPr>
        <p:spPr>
          <a:xfrm>
            <a:off x="6096000" y="5134610"/>
            <a:ext cx="5207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254000" tIns="0" rIns="19050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          🎯     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精准报警，分类处置</a:t>
            </a:r>
            <a:endParaRPr lang="en-US" sz="13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38000"/>
              </a:lnSpc>
              <a:defRPr/>
            </a:pP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对人员/火灾等事件独立判断，实现差异化报警策略。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亮点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</a:t>
            </a: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：精细化多目标追踪与报警策略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2222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841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816100"/>
            <a:ext cx="425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人员追踪与身份防抖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167">
            <a:off x="1016008" y="2343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476500"/>
            <a:ext cx="4762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核心机制：IoU匹配 + 贪心算法。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通过计算前后帧检测框IoU并按降序贪心匹配，实现持续追踪；采用状态机设计，连续3帧确认身份，确认为member后永不降级，有效规避身份频繁切换的问题。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1651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350000" y="1651000"/>
            <a:ext cx="76200" cy="2222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1841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12000" y="1816100"/>
            <a:ext cx="425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差异化延迟报警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167">
            <a:off x="6604008" y="2343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604000" y="2476500"/>
            <a:ext cx="4762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核心机制：基于时间与状态的动态延迟。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针对无面部信息人员，白天延迟10秒报警以减少误报；夜间缩短至3秒，兼顾安全与体验，实现分时段、精细化的报警触发逻辑。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191000"/>
            <a:ext cx="76200" cy="2222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381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524000" y="4356100"/>
            <a:ext cx="425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火焰/烟雾确认机制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167">
            <a:off x="1016008" y="4883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16000" y="5016500"/>
            <a:ext cx="4762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核心机制：连续帧确认 + 冷却机制。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为避免瞬时干扰误报，设定火焰需连续3帧确认、烟雾需连续5帧确认才触发报警，通过多帧校验大幅提升火灾类报警的准确性和稳定性。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41910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350000" y="4191000"/>
            <a:ext cx="76200" cy="2222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43815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112000" y="4356100"/>
            <a:ext cx="425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全局人员报警间隔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167">
            <a:off x="6604008" y="4883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604000" y="5016500"/>
            <a:ext cx="4762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核心机制：全局冷却策略。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任意人员报警触发后，系统立即进入5秒全局冷却状态，此期间新出现人员不再触发报警，有效防止多人闯入场景下的报警风暴，降低系统资源消耗。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测试与验证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989965"/>
            <a:ext cx="5586730" cy="5708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为确保系统的稳定性和功能正确性，</a:t>
            </a:r>
            <a:r>
              <a:rPr lang="zh-CN" alt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对核心模块进行测试演示</a:t>
            </a:r>
            <a:endParaRPr lang="zh-CN" alt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54178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7" name="d55beaaa464f82e761d755419618542e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12570" y="1680210"/>
            <a:ext cx="8853805" cy="47637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7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测试与验证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989965"/>
            <a:ext cx="5586730" cy="5708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为确保系统的稳定性和功能正确性，</a:t>
            </a:r>
            <a:r>
              <a:rPr lang="zh-CN" alt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对核心模块进行测试演示</a:t>
            </a:r>
            <a:endParaRPr lang="zh-CN" alt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54178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202606262227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64310" y="1718945"/>
            <a:ext cx="8892540" cy="47224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项目特色与创新点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3"/>
            </p:custDataLst>
          </p:nvPr>
        </p:nvSpPr>
        <p:spPr>
          <a:xfrm>
            <a:off x="762000" y="1778000"/>
            <a:ext cx="50800" cy="1905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1968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524000" y="1930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主动预警</a:t>
            </a:r>
            <a:endParaRPr lang="en-US" sz="1100"/>
          </a:p>
        </p:txBody>
      </p:sp>
      <p:cxnSp>
        <p:nvCxnSpPr>
          <p:cNvPr id="8" name="Connector 8"/>
          <p:cNvCxnSpPr/>
          <p:nvPr>
            <p:custDataLst>
              <p:tags r:id="rId8"/>
            </p:custDataLst>
          </p:nvPr>
        </p:nvCxnSpPr>
        <p:spPr>
          <a:xfrm rot="-15211">
            <a:off x="1016014" y="2533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>
            <p:custDataLst>
              <p:tags r:id="rId9"/>
            </p:custDataLst>
          </p:nvPr>
        </p:nvSpPr>
        <p:spPr>
          <a:xfrm>
            <a:off x="1016000" y="2667000"/>
            <a:ext cx="2870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基于YOLO深度学习模型实时分析视频流，实现从“被动记录”到“主动预警”的转变，在危险发生瞬间即可触发报警，抢占处置先机。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4394200" y="1778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4394200" y="1778000"/>
            <a:ext cx="50800" cy="1905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48200" y="1968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5"/>
            </p:custDataLst>
          </p:nvPr>
        </p:nvSpPr>
        <p:spPr>
          <a:xfrm>
            <a:off x="5156200" y="1930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双模型协同检测</a:t>
            </a:r>
            <a:endParaRPr lang="en-US" sz="1100"/>
          </a:p>
        </p:txBody>
      </p:sp>
      <p:cxnSp>
        <p:nvCxnSpPr>
          <p:cNvPr id="14" name="Connector 14"/>
          <p:cNvCxnSpPr/>
          <p:nvPr>
            <p:custDataLst>
              <p:tags r:id="rId16"/>
            </p:custDataLst>
          </p:nvPr>
        </p:nvCxnSpPr>
        <p:spPr>
          <a:xfrm rot="-15211">
            <a:off x="4648214" y="2533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>
            <p:custDataLst>
              <p:tags r:id="rId17"/>
            </p:custDataLst>
          </p:nvPr>
        </p:nvSpPr>
        <p:spPr>
          <a:xfrm>
            <a:off x="4648200" y="2667000"/>
            <a:ext cx="2870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创新融合通用人员检测模型(YOLOv8n)与专用火焰检测模型并行运行，既保障了场景覆盖的广度，又提升了关键目标识别的精度。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8"/>
            </p:custDataLst>
          </p:nvPr>
        </p:nvSpPr>
        <p:spPr>
          <a:xfrm>
            <a:off x="8026400" y="1778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19"/>
            </p:custDataLst>
          </p:nvPr>
        </p:nvSpPr>
        <p:spPr>
          <a:xfrm>
            <a:off x="8026400" y="1778000"/>
            <a:ext cx="50800" cy="1905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280400" y="1968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3"/>
            </p:custDataLst>
          </p:nvPr>
        </p:nvSpPr>
        <p:spPr>
          <a:xfrm>
            <a:off x="8788400" y="1930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智能防抖去重</a:t>
            </a:r>
            <a:endParaRPr lang="en-US" sz="1100"/>
          </a:p>
        </p:txBody>
      </p:sp>
      <p:cxnSp>
        <p:nvCxnSpPr>
          <p:cNvPr id="20" name="Connector 20"/>
          <p:cNvCxnSpPr/>
          <p:nvPr>
            <p:custDataLst>
              <p:tags r:id="rId24"/>
            </p:custDataLst>
          </p:nvPr>
        </p:nvCxnSpPr>
        <p:spPr>
          <a:xfrm rot="-15211">
            <a:off x="8280414" y="2533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>
            <p:custDataLst>
              <p:tags r:id="rId25"/>
            </p:custDataLst>
          </p:nvPr>
        </p:nvSpPr>
        <p:spPr>
          <a:xfrm>
            <a:off x="8280400" y="2667000"/>
            <a:ext cx="2870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多层防抖策略抑制重复报警 ：</a:t>
            </a:r>
            <a:r>
              <a:rPr lang="en-US" altLang="zh-CN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IoU 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人员追踪确保同一人仅触发一次；连续帧确认过滤瞬时误报；差异化延迟平衡响应与误报；全局间隔控制避免信息轰炸</a:t>
            </a:r>
            <a:endParaRPr lang="zh-CN" alt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62000" y="4191000"/>
            <a:ext cx="5283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4191000"/>
            <a:ext cx="50800" cy="1905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16000" y="43815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524000" y="4343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轻量级全本地运行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142">
            <a:off x="1016008" y="4946650"/>
            <a:ext cx="4775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1016000" y="5080000"/>
            <a:ext cx="4775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无需GPU高性能计算和云服务支持，仅依靠普通CPU即可流畅运行；所有视频流与分析数据均保存在本地设备，从根本上杜绝数据泄露，切实保护用户隐私安全。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400800" y="4191000"/>
            <a:ext cx="5283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400800" y="4191000"/>
            <a:ext cx="50800" cy="1905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654800" y="4381500"/>
            <a:ext cx="355600" cy="3556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162800" y="4343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双模式灵活操作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9142">
            <a:off x="6654808" y="4946650"/>
            <a:ext cx="4775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6654800" y="5080000"/>
            <a:ext cx="4775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面向家庭用户提供美观、易用的GUI图形界面，操作直观零门槛；同时保留CLI命令行模式，方便开发者进行功能调试、参数配置与二次开发，兼顾不同用户群体需求。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 未来展望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19230" b="19230"/>
          <a:stretch>
            <a:fillRect/>
          </a:stretch>
        </p:blipFill>
        <p:spPr>
          <a:xfrm>
            <a:off x="762000" y="1778000"/>
            <a:ext cx="3302000" cy="203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3846" b="3846"/>
          <a:stretch>
            <a:fillRect/>
          </a:stretch>
        </p:blipFill>
        <p:spPr>
          <a:xfrm>
            <a:off x="762000" y="4191000"/>
            <a:ext cx="3302000" cy="203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6" name="Connector 6"/>
          <p:cNvCxnSpPr/>
          <p:nvPr/>
        </p:nvCxnSpPr>
        <p:spPr>
          <a:xfrm rot="5390316">
            <a:off x="2254250" y="4025909"/>
            <a:ext cx="450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4826000" y="1778000"/>
            <a:ext cx="3238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16500" y="1968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5461000" y="1930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多摄像头支持</a:t>
            </a:r>
            <a:endParaRPr lang="en-US" sz="1100"/>
          </a:p>
        </p:txBody>
      </p:sp>
      <p:cxnSp>
        <p:nvCxnSpPr>
          <p:cNvPr id="10" name="Connector 10"/>
          <p:cNvCxnSpPr/>
          <p:nvPr>
            <p:custDataLst>
              <p:tags r:id="rId9"/>
            </p:custDataLst>
          </p:nvPr>
        </p:nvCxnSpPr>
        <p:spPr>
          <a:xfrm rot="-15278">
            <a:off x="5016514" y="247015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5016500" y="2667000"/>
            <a:ext cx="2857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扩展系统以支持多路摄像头输入，实现家庭全域无死角覆盖。数据库已前瞻性预留字段，为后续规模化部署提供了稳固的数据结构基础。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8318500" y="1778000"/>
            <a:ext cx="3238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09000" y="1968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8953500" y="1930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新增传感器融合</a:t>
            </a:r>
            <a:endParaRPr lang="en-US" sz="1100"/>
          </a:p>
        </p:txBody>
      </p:sp>
      <p:cxnSp>
        <p:nvCxnSpPr>
          <p:cNvPr id="15" name="Connector 15"/>
          <p:cNvCxnSpPr/>
          <p:nvPr>
            <p:custDataLst>
              <p:tags r:id="rId16"/>
            </p:custDataLst>
          </p:nvPr>
        </p:nvCxnSpPr>
        <p:spPr>
          <a:xfrm rot="-15278">
            <a:off x="8509014" y="247015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>
            <p:custDataLst>
              <p:tags r:id="rId17"/>
            </p:custDataLst>
          </p:nvPr>
        </p:nvSpPr>
        <p:spPr>
          <a:xfrm>
            <a:off x="8509000" y="2667000"/>
            <a:ext cx="2857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集成煤气泄漏、门窗磁、温湿度等多维传感器，打破单一视觉监控的局限，构建环境感知与视频联动的立体化、主动式智能家居安防体系。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8"/>
            </p:custDataLst>
          </p:nvPr>
        </p:nvSpPr>
        <p:spPr>
          <a:xfrm>
            <a:off x="4826000" y="4191000"/>
            <a:ext cx="3238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016500" y="4381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2"/>
            </p:custDataLst>
          </p:nvPr>
        </p:nvSpPr>
        <p:spPr>
          <a:xfrm>
            <a:off x="5461000" y="4343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 远程查看</a:t>
            </a:r>
            <a:endParaRPr lang="en-US" sz="1100"/>
          </a:p>
        </p:txBody>
      </p:sp>
      <p:cxnSp>
        <p:nvCxnSpPr>
          <p:cNvPr id="20" name="Connector 20"/>
          <p:cNvCxnSpPr/>
          <p:nvPr>
            <p:custDataLst>
              <p:tags r:id="rId23"/>
            </p:custDataLst>
          </p:nvPr>
        </p:nvCxnSpPr>
        <p:spPr>
          <a:xfrm rot="-15278">
            <a:off x="5016514" y="488315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>
            <p:custDataLst>
              <p:tags r:id="rId24"/>
            </p:custDataLst>
          </p:nvPr>
        </p:nvSpPr>
        <p:spPr>
          <a:xfrm>
            <a:off x="5016500" y="5080000"/>
            <a:ext cx="2857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搭建Flask/FastAPI服务层，开发适配移动端与桌面端的响应式Web界面，让用户随时随地通过手机App或浏览器远程查看实时监控流与历史告警记录。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25"/>
            </p:custDataLst>
          </p:nvPr>
        </p:nvSpPr>
        <p:spPr>
          <a:xfrm>
            <a:off x="8318500" y="4191000"/>
            <a:ext cx="3238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509000" y="43815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>
            <p:custDataLst>
              <p:tags r:id="rId29"/>
            </p:custDataLst>
          </p:nvPr>
        </p:nvSpPr>
        <p:spPr>
          <a:xfrm>
            <a:off x="8953500" y="4343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模型持续优化</a:t>
            </a:r>
            <a:endParaRPr lang="en-US" sz="1100"/>
          </a:p>
        </p:txBody>
      </p:sp>
      <p:cxnSp>
        <p:nvCxnSpPr>
          <p:cNvPr id="25" name="Connector 25"/>
          <p:cNvCxnSpPr/>
          <p:nvPr>
            <p:custDataLst>
              <p:tags r:id="rId30"/>
            </p:custDataLst>
          </p:nvPr>
        </p:nvCxnSpPr>
        <p:spPr>
          <a:xfrm rot="-15278">
            <a:off x="8509014" y="4883150"/>
            <a:ext cx="285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>
            <p:custDataLst>
              <p:tags r:id="rId31"/>
            </p:custDataLst>
          </p:nvPr>
        </p:nvSpPr>
        <p:spPr>
          <a:xfrm>
            <a:off x="8509000" y="5080000"/>
            <a:ext cx="2857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持续收集真实家庭场景数据，对YOLO模型进行迭代训练与微调，重点优化小目标检测、复杂光照与遮挡场景下的识别能力，不断提升AI检测的准确率与鲁棒性。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794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419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5,&quot;left&quot;:60,&quot;top&quot;:140,&quot;width&quot;:840}"/>
</p:tagLst>
</file>

<file path=ppt/tags/tag2.xml><?xml version="1.0" encoding="utf-8"?>
<p:tagLst xmlns:p="http://schemas.openxmlformats.org/presentationml/2006/main">
  <p:tag name="KSO_WM_DIAGRAM_VIRTUALLY_FRAME" val="{&quot;height&quot;:295,&quot;left&quot;:60,&quot;top&quot;:140,&quot;width&quot;:840}"/>
</p:tagLst>
</file>

<file path=ppt/tags/tag3.xml><?xml version="1.0" encoding="utf-8"?>
<p:tagLst xmlns:p="http://schemas.openxmlformats.org/presentationml/2006/main">
  <p:tag name="KSO_WM_DIAGRAM_VIRTUALLY_FRAME" val="{&quot;height&quot;:295,&quot;left&quot;:60,&quot;top&quot;:140,&quot;width&quot;:840}"/>
</p:tagLst>
</file>

<file path=ppt/tags/tag4.xml><?xml version="1.0" encoding="utf-8"?>
<p:tagLst xmlns:p="http://schemas.openxmlformats.org/presentationml/2006/main">
  <p:tag name="KSO_WM_DIAGRAM_VIRTUALLY_FRAME" val="{&quot;height&quot;:295,&quot;left&quot;:60,&quot;top&quot;:140,&quot;width&quot;:840}"/>
</p:tagLst>
</file>

<file path=ppt/tags/tag5.xml><?xml version="1.0" encoding="utf-8"?>
<p:tagLst xmlns:p="http://schemas.openxmlformats.org/presentationml/2006/main">
  <p:tag name="KSO_WM_DIAGRAM_VIRTUALLY_FRAME" val="{&quot;height&quot;:295,&quot;left&quot;:60,&quot;top&quot;:140,&quot;width&quot;:840}"/>
</p:tagLst>
</file>

<file path=ppt/tags/tag6.xml><?xml version="1.0" encoding="utf-8"?>
<p:tagLst xmlns:p="http://schemas.openxmlformats.org/presentationml/2006/main">
  <p:tag name="KSO_WM_DIAGRAM_VIRTUALLY_FRAME" val="{&quot;height&quot;:295,&quot;left&quot;:60,&quot;top&quot;:140,&quot;width&quot;:840}"/>
</p:tagLst>
</file>

<file path=ppt/tags/tag7.xml><?xml version="1.0" encoding="utf-8"?>
<p:tagLst xmlns:p="http://schemas.openxmlformats.org/presentationml/2006/main">
  <p:tag name="KSO_WM_DIAGRAM_VIRTUALLY_FRAME" val="{&quot;height&quot;:295,&quot;left&quot;:60,&quot;top&quot;:140,&quot;width&quot;:840}"/>
</p:tagLst>
</file>

<file path=ppt/tags/tag8.xml><?xml version="1.0" encoding="utf-8"?>
<p:tagLst xmlns:p="http://schemas.openxmlformats.org/presentationml/2006/main">
  <p:tag name="KSO_WM_DIAGRAM_VIRTUALLY_FRAME" val="{&quot;height&quot;:295,&quot;left&quot;:60,&quot;top&quot;:140,&quot;width&quot;:840}"/>
</p:tagLst>
</file>

<file path=ppt/tags/tag9.xml><?xml version="1.0" encoding="utf-8"?>
<p:tagLst xmlns:p="http://schemas.openxmlformats.org/presentationml/2006/main">
  <p:tag name="KSO_WM_DIAGRAM_VIRTUALLY_FRAME" val="{&quot;height&quot;:295,&quot;left&quot;:60,&quot;top&quot;:140,&quot;width&quot;:840}"/>
</p:tagLst>
</file>

<file path=ppt/tags/tag10.xml><?xml version="1.0" encoding="utf-8"?>
<p:tagLst xmlns:p="http://schemas.openxmlformats.org/presentationml/2006/main">
  <p:tag name="KSO_WM_DIAGRAM_VIRTUALLY_FRAME" val="{&quot;height&quot;:295,&quot;left&quot;:60,&quot;top&quot;:140,&quot;width&quot;:840}"/>
</p:tagLst>
</file>

<file path=ppt/tags/tag11.xml><?xml version="1.0" encoding="utf-8"?>
<p:tagLst xmlns:p="http://schemas.openxmlformats.org/presentationml/2006/main">
  <p:tag name="KSO_WM_DIAGRAM_VIRTUALLY_FRAME" val="{&quot;height&quot;:295,&quot;left&quot;:60,&quot;top&quot;:140,&quot;width&quot;:840}"/>
</p:tagLst>
</file>

<file path=ppt/tags/tag12.xml><?xml version="1.0" encoding="utf-8"?>
<p:tagLst xmlns:p="http://schemas.openxmlformats.org/presentationml/2006/main">
  <p:tag name="KSO_WM_DIAGRAM_VIRTUALLY_FRAME" val="{&quot;height&quot;:295,&quot;left&quot;:60,&quot;top&quot;:140,&quot;width&quot;:840}"/>
</p:tagLst>
</file>

<file path=ppt/tags/tag13.xml><?xml version="1.0" encoding="utf-8"?>
<p:tagLst xmlns:p="http://schemas.openxmlformats.org/presentationml/2006/main">
  <p:tag name="KSO_WM_DIAGRAM_VIRTUALLY_FRAME" val="{&quot;height&quot;:295,&quot;left&quot;:60,&quot;top&quot;:140,&quot;width&quot;:840}"/>
</p:tagLst>
</file>

<file path=ppt/tags/tag14.xml><?xml version="1.0" encoding="utf-8"?>
<p:tagLst xmlns:p="http://schemas.openxmlformats.org/presentationml/2006/main">
  <p:tag name="KSO_WM_DIAGRAM_VIRTUALLY_FRAME" val="{&quot;height&quot;:295,&quot;left&quot;:60,&quot;top&quot;:140,&quot;width&quot;:840}"/>
</p:tagLst>
</file>

<file path=ppt/tags/tag15.xml><?xml version="1.0" encoding="utf-8"?>
<p:tagLst xmlns:p="http://schemas.openxmlformats.org/presentationml/2006/main">
  <p:tag name="KSO_WM_DIAGRAM_VIRTUALLY_FRAME" val="{&quot;height&quot;:295,&quot;left&quot;:60,&quot;top&quot;:140,&quot;width&quot;:840}"/>
</p:tagLst>
</file>

<file path=ppt/tags/tag16.xml><?xml version="1.0" encoding="utf-8"?>
<p:tagLst xmlns:p="http://schemas.openxmlformats.org/presentationml/2006/main">
  <p:tag name="KSO_WM_DIAGRAM_VIRTUALLY_FRAME" val="{&quot;height&quot;:295,&quot;left&quot;:60,&quot;top&quot;:140,&quot;width&quot;:840}"/>
</p:tagLst>
</file>

<file path=ppt/tags/tag17.xml><?xml version="1.0" encoding="utf-8"?>
<p:tagLst xmlns:p="http://schemas.openxmlformats.org/presentationml/2006/main">
  <p:tag name="KSO_WM_DIAGRAM_VIRTUALLY_FRAME" val="{&quot;height&quot;:295,&quot;left&quot;:60,&quot;top&quot;:140,&quot;width&quot;:840}"/>
</p:tagLst>
</file>

<file path=ppt/tags/tag18.xml><?xml version="1.0" encoding="utf-8"?>
<p:tagLst xmlns:p="http://schemas.openxmlformats.org/presentationml/2006/main">
  <p:tag name="KSO_WM_DIAGRAM_VIRTUALLY_FRAME" val="{&quot;height&quot;:295,&quot;left&quot;:60,&quot;top&quot;:140,&quot;width&quot;:840}"/>
</p:tagLst>
</file>

<file path=ppt/tags/tag19.xml><?xml version="1.0" encoding="utf-8"?>
<p:tagLst xmlns:p="http://schemas.openxmlformats.org/presentationml/2006/main">
  <p:tag name="KSO_WM_DIAGRAM_VIRTUALLY_FRAME" val="{&quot;height&quot;:295,&quot;left&quot;:60,&quot;top&quot;:140,&quot;width&quot;:840}"/>
</p:tagLst>
</file>

<file path=ppt/tags/tag20.xml><?xml version="1.0" encoding="utf-8"?>
<p:tagLst xmlns:p="http://schemas.openxmlformats.org/presentationml/2006/main">
  <p:tag name="KSO_WM_DIAGRAM_VIRTUALLY_FRAME" val="{&quot;height&quot;:295,&quot;left&quot;:60,&quot;top&quot;:140,&quot;width&quot;:840}"/>
</p:tagLst>
</file>

<file path=ppt/tags/tag21.xml><?xml version="1.0" encoding="utf-8"?>
<p:tagLst xmlns:p="http://schemas.openxmlformats.org/presentationml/2006/main">
  <p:tag name="KSO_WM_DIAGRAM_VIRTUALLY_FRAME" val="{&quot;height&quot;:295,&quot;left&quot;:60,&quot;top&quot;:140,&quot;width&quot;:840}"/>
</p:tagLst>
</file>

<file path=ppt/tags/tag22.xml><?xml version="1.0" encoding="utf-8"?>
<p:tagLst xmlns:p="http://schemas.openxmlformats.org/presentationml/2006/main">
  <p:tag name="KSO_WM_DIAGRAM_VIRTUALLY_FRAME" val="{&quot;height&quot;:295,&quot;left&quot;:60,&quot;top&quot;:140,&quot;width&quot;:840}"/>
</p:tagLst>
</file>

<file path=ppt/tags/tag23.xml><?xml version="1.0" encoding="utf-8"?>
<p:tagLst xmlns:p="http://schemas.openxmlformats.org/presentationml/2006/main">
  <p:tag name="KSO_WM_DIAGRAM_VIRTUALLY_FRAME" val="{&quot;height&quot;:295,&quot;left&quot;:60,&quot;top&quot;:140,&quot;width&quot;:840}"/>
</p:tagLst>
</file>

<file path=ppt/tags/tag24.xml><?xml version="1.0" encoding="utf-8"?>
<p:tagLst xmlns:p="http://schemas.openxmlformats.org/presentationml/2006/main">
  <p:tag name="KSO_WM_DIAGRAM_VIRTUALLY_FRAME" val="{&quot;height&quot;:295,&quot;left&quot;:60,&quot;top&quot;:140,&quot;width&quot;:840}"/>
</p:tagLst>
</file>

<file path=ppt/tags/tag25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26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27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28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29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30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31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32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33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34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35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36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37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38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39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40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41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42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43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44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45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46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47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48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49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50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51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52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53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54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55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56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57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58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59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60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61.xml><?xml version="1.0" encoding="utf-8"?>
<p:tagLst xmlns:p="http://schemas.openxmlformats.org/presentationml/2006/main">
  <p:tag name="KSO_WM_DIAGRAM_VIRTUALLY_FRAME" val="{&quot;height&quot;:380.00131578719413,&quot;left&quot;:60,&quot;top&quot;:119.99997202766284,&quot;width&quot;:860}"/>
</p:tagLst>
</file>

<file path=ppt/tags/tag62.xml><?xml version="1.0" encoding="utf-8"?>
<p:tagLst xmlns:p="http://schemas.openxmlformats.org/presentationml/2006/main">
  <p:tag name="KSO_WM_DIAGRAM_VIRTUALLY_FRAME" val="{&quot;height&quot;:100.15,&quot;left&quot;:234.5,&quot;top&quot;:137.1,&quot;width&quot;:692.55}"/>
</p:tagLst>
</file>

<file path=ppt/tags/tag63.xml><?xml version="1.0" encoding="utf-8"?>
<p:tagLst xmlns:p="http://schemas.openxmlformats.org/presentationml/2006/main">
  <p:tag name="KSO_WM_DIAGRAM_VIRTUALLY_FRAME" val="{&quot;height&quot;:100.15,&quot;left&quot;:234.5,&quot;top&quot;:137.1,&quot;width&quot;:692.55}"/>
</p:tagLst>
</file>

<file path=ppt/tags/tag64.xml><?xml version="1.0" encoding="utf-8"?>
<p:tagLst xmlns:p="http://schemas.openxmlformats.org/presentationml/2006/main">
  <p:tag name="KSO_WM_DIAGRAM_VIRTUALLY_FRAME" val="{&quot;height&quot;:100.15,&quot;left&quot;:234.5,&quot;top&quot;:137.1,&quot;width&quot;:692.55}"/>
</p:tagLst>
</file>

<file path=ppt/tags/tag65.xml><?xml version="1.0" encoding="utf-8"?>
<p:tagLst xmlns:p="http://schemas.openxmlformats.org/presentationml/2006/main">
  <p:tag name="KSO_WM_DIAGRAM_VIRTUALLY_FRAME" val="{&quot;height&quot;:100.15,&quot;left&quot;:234.5,&quot;top&quot;:137.1,&quot;width&quot;:692.55}"/>
</p:tagLst>
</file>

<file path=ppt/tags/tag66.xml><?xml version="1.0" encoding="utf-8"?>
<p:tagLst xmlns:p="http://schemas.openxmlformats.org/presentationml/2006/main">
  <p:tag name="KSO_WM_DIAGRAM_VIRTUALLY_FRAME" val="{&quot;height&quot;:100.15,&quot;left&quot;:234.5,&quot;top&quot;:137.1,&quot;width&quot;:692.55}"/>
</p:tagLst>
</file>

<file path=ppt/tags/tag67.xml><?xml version="1.0" encoding="utf-8"?>
<p:tagLst xmlns:p="http://schemas.openxmlformats.org/presentationml/2006/main">
  <p:tag name="KSO_WM_DIAGRAM_VIRTUALLY_FRAME" val="{&quot;height&quot;:100.15,&quot;left&quot;:234.5,&quot;top&quot;:137.1,&quot;width&quot;:692.55}"/>
</p:tagLst>
</file>

<file path=ppt/tags/tag68.xml><?xml version="1.0" encoding="utf-8"?>
<p:tagLst xmlns:p="http://schemas.openxmlformats.org/presentationml/2006/main">
  <p:tag name="KSO_WM_DIAGRAM_VIRTUALLY_FRAME" val="{&quot;height&quot;:150,&quot;left&quot;:60,&quot;top&quot;:140,&quot;width&quot;:838}"/>
</p:tagLst>
</file>

<file path=ppt/tags/tag69.xml><?xml version="1.0" encoding="utf-8"?>
<p:tagLst xmlns:p="http://schemas.openxmlformats.org/presentationml/2006/main">
  <p:tag name="KSO_WM_DIAGRAM_VIRTUALLY_FRAME" val="{&quot;height&quot;:150,&quot;left&quot;:60,&quot;top&quot;:140,&quot;width&quot;:838}"/>
</p:tagLst>
</file>

<file path=ppt/tags/tag70.xml><?xml version="1.0" encoding="utf-8"?>
<p:tagLst xmlns:p="http://schemas.openxmlformats.org/presentationml/2006/main">
  <p:tag name="KSO_WM_DIAGRAM_VIRTUALLY_FRAME" val="{&quot;height&quot;:150,&quot;left&quot;:60,&quot;top&quot;:140,&quot;width&quot;:838}"/>
</p:tagLst>
</file>

<file path=ppt/tags/tag71.xml><?xml version="1.0" encoding="utf-8"?>
<p:tagLst xmlns:p="http://schemas.openxmlformats.org/presentationml/2006/main">
  <p:tag name="KSO_WM_DIAGRAM_VIRTUALLY_FRAME" val="{&quot;height&quot;:150,&quot;left&quot;:60,&quot;top&quot;:140,&quot;width&quot;:838}"/>
</p:tagLst>
</file>

<file path=ppt/tags/tag72.xml><?xml version="1.0" encoding="utf-8"?>
<p:tagLst xmlns:p="http://schemas.openxmlformats.org/presentationml/2006/main">
  <p:tag name="KSO_WM_DIAGRAM_VIRTUALLY_FRAME" val="{&quot;height&quot;:150,&quot;left&quot;:60,&quot;top&quot;:140,&quot;width&quot;:838}"/>
</p:tagLst>
</file>

<file path=ppt/tags/tag73.xml><?xml version="1.0" encoding="utf-8"?>
<p:tagLst xmlns:p="http://schemas.openxmlformats.org/presentationml/2006/main">
  <p:tag name="KSO_WM_DIAGRAM_VIRTUALLY_FRAME" val="{&quot;height&quot;:150,&quot;left&quot;:60,&quot;top&quot;:140,&quot;width&quot;:838}"/>
</p:tagLst>
</file>

<file path=ppt/tags/tag74.xml><?xml version="1.0" encoding="utf-8"?>
<p:tagLst xmlns:p="http://schemas.openxmlformats.org/presentationml/2006/main">
  <p:tag name="KSO_WM_DIAGRAM_VIRTUALLY_FRAME" val="{&quot;height&quot;:150,&quot;left&quot;:60,&quot;top&quot;:140,&quot;width&quot;:838}"/>
</p:tagLst>
</file>

<file path=ppt/tags/tag75.xml><?xml version="1.0" encoding="utf-8"?>
<p:tagLst xmlns:p="http://schemas.openxmlformats.org/presentationml/2006/main">
  <p:tag name="KSO_WM_DIAGRAM_VIRTUALLY_FRAME" val="{&quot;height&quot;:150,&quot;left&quot;:60,&quot;top&quot;:140,&quot;width&quot;:838}"/>
</p:tagLst>
</file>

<file path=ppt/tags/tag76.xml><?xml version="1.0" encoding="utf-8"?>
<p:tagLst xmlns:p="http://schemas.openxmlformats.org/presentationml/2006/main">
  <p:tag name="KSO_WM_DIAGRAM_VIRTUALLY_FRAME" val="{&quot;height&quot;:150,&quot;left&quot;:60,&quot;top&quot;:140,&quot;width&quot;:838}"/>
</p:tagLst>
</file>

<file path=ppt/tags/tag77.xml><?xml version="1.0" encoding="utf-8"?>
<p:tagLst xmlns:p="http://schemas.openxmlformats.org/presentationml/2006/main">
  <p:tag name="KSO_WM_DIAGRAM_VIRTUALLY_FRAME" val="{&quot;height&quot;:150,&quot;left&quot;:60,&quot;top&quot;:140,&quot;width&quot;:838}"/>
</p:tagLst>
</file>

<file path=ppt/tags/tag78.xml><?xml version="1.0" encoding="utf-8"?>
<p:tagLst xmlns:p="http://schemas.openxmlformats.org/presentationml/2006/main">
  <p:tag name="KSO_WM_DIAGRAM_VIRTUALLY_FRAME" val="{&quot;height&quot;:150,&quot;left&quot;:60,&quot;top&quot;:140,&quot;width&quot;:838}"/>
</p:tagLst>
</file>

<file path=ppt/tags/tag79.xml><?xml version="1.0" encoding="utf-8"?>
<p:tagLst xmlns:p="http://schemas.openxmlformats.org/presentationml/2006/main">
  <p:tag name="KSO_WM_DIAGRAM_VIRTUALLY_FRAME" val="{&quot;height&quot;:150,&quot;left&quot;:60,&quot;top&quot;:140,&quot;width&quot;:838}"/>
</p:tagLst>
</file>

<file path=ppt/tags/tag80.xml><?xml version="1.0" encoding="utf-8"?>
<p:tagLst xmlns:p="http://schemas.openxmlformats.org/presentationml/2006/main">
  <p:tag name="KSO_WM_DIAGRAM_VIRTUALLY_FRAME" val="{&quot;height&quot;:150,&quot;left&quot;:60,&quot;top&quot;:140,&quot;width&quot;:838}"/>
</p:tagLst>
</file>

<file path=ppt/tags/tag81.xml><?xml version="1.0" encoding="utf-8"?>
<p:tagLst xmlns:p="http://schemas.openxmlformats.org/presentationml/2006/main">
  <p:tag name="KSO_WM_DIAGRAM_VIRTUALLY_FRAME" val="{&quot;height&quot;:150,&quot;left&quot;:60,&quot;top&quot;:140,&quot;width&quot;:838}"/>
</p:tagLst>
</file>

<file path=ppt/tags/tag82.xml><?xml version="1.0" encoding="utf-8"?>
<p:tagLst xmlns:p="http://schemas.openxmlformats.org/presentationml/2006/main">
  <p:tag name="KSO_WM_DIAGRAM_VIRTUALLY_FRAME" val="{&quot;height&quot;:150,&quot;left&quot;:60,&quot;top&quot;:140,&quot;width&quot;:838}"/>
</p:tagLst>
</file>

<file path=ppt/tags/tag83.xml><?xml version="1.0" encoding="utf-8"?>
<p:tagLst xmlns:p="http://schemas.openxmlformats.org/presentationml/2006/main">
  <p:tag name="KSO_WM_DIAGRAM_VIRTUALLY_FRAME" val="{&quot;height&quot;:150,&quot;left&quot;:60,&quot;top&quot;:140,&quot;width&quot;:838}"/>
</p:tagLst>
</file>

<file path=ppt/tags/tag84.xml><?xml version="1.0" encoding="utf-8"?>
<p:tagLst xmlns:p="http://schemas.openxmlformats.org/presentationml/2006/main">
  <p:tag name="KSO_WM_DIAGRAM_VIRTUALLY_FRAME" val="{&quot;height&quot;:150,&quot;left&quot;:60,&quot;top&quot;:140,&quot;width&quot;:838}"/>
</p:tagLst>
</file>

<file path=ppt/tags/tag85.xml><?xml version="1.0" encoding="utf-8"?>
<p:tagLst xmlns:p="http://schemas.openxmlformats.org/presentationml/2006/main">
  <p:tag name="KSO_WM_DIAGRAM_VIRTUALLY_FRAME" val="{&quot;height&quot;:150,&quot;left&quot;:60,&quot;top&quot;:140,&quot;width&quot;:838}"/>
</p:tagLst>
</file>

<file path=ppt/tags/tag86.xml><?xml version="1.0" encoding="utf-8"?>
<p:tagLst xmlns:p="http://schemas.openxmlformats.org/presentationml/2006/main">
  <p:tag name="KSO_WM_DIAGRAM_VIRTUALLY_FRAME" val="{&quot;height&quot;:355,&quot;left&quot;:380,&quot;top&quot;:140,&quot;width&quot;:530}"/>
</p:tagLst>
</file>

<file path=ppt/tags/tag87.xml><?xml version="1.0" encoding="utf-8"?>
<p:tagLst xmlns:p="http://schemas.openxmlformats.org/presentationml/2006/main">
  <p:tag name="KSO_WM_DIAGRAM_VIRTUALLY_FRAME" val="{&quot;height&quot;:355,&quot;left&quot;:380,&quot;top&quot;:140,&quot;width&quot;:530}"/>
</p:tagLst>
</file>

<file path=ppt/tags/tag88.xml><?xml version="1.0" encoding="utf-8"?>
<p:tagLst xmlns:p="http://schemas.openxmlformats.org/presentationml/2006/main">
  <p:tag name="KSO_WM_DIAGRAM_VIRTUALLY_FRAME" val="{&quot;height&quot;:355,&quot;left&quot;:380,&quot;top&quot;:140,&quot;width&quot;:530}"/>
</p:tagLst>
</file>

<file path=ppt/tags/tag89.xml><?xml version="1.0" encoding="utf-8"?>
<p:tagLst xmlns:p="http://schemas.openxmlformats.org/presentationml/2006/main">
  <p:tag name="KSO_WM_DIAGRAM_VIRTUALLY_FRAME" val="{&quot;height&quot;:355,&quot;left&quot;:380,&quot;top&quot;:140,&quot;width&quot;:530}"/>
</p:tagLst>
</file>

<file path=ppt/tags/tag90.xml><?xml version="1.0" encoding="utf-8"?>
<p:tagLst xmlns:p="http://schemas.openxmlformats.org/presentationml/2006/main">
  <p:tag name="KSO_WM_DIAGRAM_VIRTUALLY_FRAME" val="{&quot;height&quot;:355,&quot;left&quot;:380,&quot;top&quot;:140,&quot;width&quot;:530}"/>
</p:tagLst>
</file>

<file path=ppt/tags/tag91.xml><?xml version="1.0" encoding="utf-8"?>
<p:tagLst xmlns:p="http://schemas.openxmlformats.org/presentationml/2006/main">
  <p:tag name="KSO_WM_DIAGRAM_VIRTUALLY_FRAME" val="{&quot;height&quot;:355,&quot;left&quot;:380,&quot;top&quot;:140,&quot;width&quot;:530}"/>
</p:tagLst>
</file>

<file path=ppt/tags/tag92.xml><?xml version="1.0" encoding="utf-8"?>
<p:tagLst xmlns:p="http://schemas.openxmlformats.org/presentationml/2006/main">
  <p:tag name="KSO_WM_DIAGRAM_VIRTUALLY_FRAME" val="{&quot;height&quot;:355,&quot;left&quot;:380,&quot;top&quot;:140,&quot;width&quot;:530}"/>
</p:tagLst>
</file>

<file path=ppt/tags/tag93.xml><?xml version="1.0" encoding="utf-8"?>
<p:tagLst xmlns:p="http://schemas.openxmlformats.org/presentationml/2006/main">
  <p:tag name="KSO_WM_DIAGRAM_VIRTUALLY_FRAME" val="{&quot;height&quot;:355,&quot;left&quot;:380,&quot;top&quot;:140,&quot;width&quot;:530}"/>
</p:tagLst>
</file>

<file path=ppt/tags/tag94.xml><?xml version="1.0" encoding="utf-8"?>
<p:tagLst xmlns:p="http://schemas.openxmlformats.org/presentationml/2006/main">
  <p:tag name="KSO_WM_DIAGRAM_VIRTUALLY_FRAME" val="{&quot;height&quot;:355,&quot;left&quot;:380,&quot;top&quot;:140,&quot;width&quot;:530}"/>
</p:tagLst>
</file>

<file path=ppt/tags/tag95.xml><?xml version="1.0" encoding="utf-8"?>
<p:tagLst xmlns:p="http://schemas.openxmlformats.org/presentationml/2006/main">
  <p:tag name="KSO_WM_DIAGRAM_VIRTUALLY_FRAME" val="{&quot;height&quot;:355,&quot;left&quot;:380,&quot;top&quot;:140,&quot;width&quot;:530}"/>
</p:tagLst>
</file>

<file path=ppt/tags/tag96.xml><?xml version="1.0" encoding="utf-8"?>
<p:tagLst xmlns:p="http://schemas.openxmlformats.org/presentationml/2006/main">
  <p:tag name="KSO_WM_DIAGRAM_VIRTUALLY_FRAME" val="{&quot;height&quot;:355,&quot;left&quot;:380,&quot;top&quot;:140,&quot;width&quot;:530}"/>
</p:tagLst>
</file>

<file path=ppt/tags/tag97.xml><?xml version="1.0" encoding="utf-8"?>
<p:tagLst xmlns:p="http://schemas.openxmlformats.org/presentationml/2006/main">
  <p:tag name="KSO_WM_DIAGRAM_VIRTUALLY_FRAME" val="{&quot;height&quot;:355,&quot;left&quot;:380,&quot;top&quot;:140,&quot;width&quot;:530}"/>
</p:tagLst>
</file>

<file path=ppt/tags/tag98.xml><?xml version="1.0" encoding="utf-8"?>
<p:tagLst xmlns:p="http://schemas.openxmlformats.org/presentationml/2006/main">
  <p:tag name="KSO_WM_DIAGRAM_VIRTUALLY_FRAME" val="{&quot;height&quot;:355,&quot;left&quot;:380,&quot;top&quot;:140,&quot;width&quot;:530}"/>
</p:tagLst>
</file>

<file path=ppt/tags/tag99.xml><?xml version="1.0" encoding="utf-8"?>
<p:tagLst xmlns:p="http://schemas.openxmlformats.org/presentationml/2006/main">
  <p:tag name="KSO_WM_DIAGRAM_VIRTUALLY_FRAME" val="{&quot;height&quot;:355,&quot;left&quot;:380,&quot;top&quot;:140,&quot;width&quot;:530}"/>
</p:tagLst>
</file>

<file path=ppt/tags/tag100.xml><?xml version="1.0" encoding="utf-8"?>
<p:tagLst xmlns:p="http://schemas.openxmlformats.org/presentationml/2006/main">
  <p:tag name="KSO_WM_DIAGRAM_VIRTUALLY_FRAME" val="{&quot;height&quot;:355,&quot;left&quot;:380,&quot;top&quot;:140,&quot;width&quot;:530}"/>
</p:tagLst>
</file>

<file path=ppt/tags/tag101.xml><?xml version="1.0" encoding="utf-8"?>
<p:tagLst xmlns:p="http://schemas.openxmlformats.org/presentationml/2006/main">
  <p:tag name="KSO_WM_DIAGRAM_VIRTUALLY_FRAME" val="{&quot;height&quot;:355,&quot;left&quot;:380,&quot;top&quot;:140,&quot;width&quot;:530}"/>
</p:tagLst>
</file>

<file path=ppt/tags/tag102.xml><?xml version="1.0" encoding="utf-8"?>
<p:tagLst xmlns:p="http://schemas.openxmlformats.org/presentationml/2006/main">
  <p:tag name="KSO_WM_DIAGRAM_VIRTUALLY_FRAME" val="{&quot;height&quot;:355,&quot;left&quot;:380,&quot;top&quot;:140,&quot;width&quot;:530}"/>
</p:tagLst>
</file>

<file path=ppt/tags/tag103.xml><?xml version="1.0" encoding="utf-8"?>
<p:tagLst xmlns:p="http://schemas.openxmlformats.org/presentationml/2006/main">
  <p:tag name="KSO_WM_DIAGRAM_VIRTUALLY_FRAME" val="{&quot;height&quot;:355,&quot;left&quot;:380,&quot;top&quot;:140,&quot;width&quot;:530}"/>
</p:tagLst>
</file>

<file path=ppt/tags/tag104.xml><?xml version="1.0" encoding="utf-8"?>
<p:tagLst xmlns:p="http://schemas.openxmlformats.org/presentationml/2006/main">
  <p:tag name="KSO_WM_DIAGRAM_VIRTUALLY_FRAME" val="{&quot;height&quot;:355,&quot;left&quot;:380,&quot;top&quot;:140,&quot;width&quot;:530}"/>
</p:tagLst>
</file>

<file path=ppt/tags/tag105.xml><?xml version="1.0" encoding="utf-8"?>
<p:tagLst xmlns:p="http://schemas.openxmlformats.org/presentationml/2006/main">
  <p:tag name="KSO_WM_DIAGRAM_VIRTUALLY_FRAME" val="{&quot;height&quot;:355,&quot;left&quot;:380,&quot;top&quot;:140,&quot;width&quot;:53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3286</Words>
  <Application>WPS 演示</Application>
  <PresentationFormat/>
  <Paragraphs>247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2_默认主题</vt:lpstr>
      <vt:lpstr>1_默认主题</vt:lpstr>
      <vt:lpstr>3_默认主题</vt:lpstr>
      <vt:lpstr>4_默认主题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鹓</cp:lastModifiedBy>
  <cp:revision>4</cp:revision>
  <dcterms:created xsi:type="dcterms:W3CDTF">2026-06-26T13:38:00Z</dcterms:created>
  <dcterms:modified xsi:type="dcterms:W3CDTF">2026-06-26T16:29:38Z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{"Label":"1","ContentProducer":"001191110102MACQD9K64010000","ProduceID":"7655385135508212955","ReservedCode1":"","ContentPropagator":"","PropagateID":"","ReservedCode2":""}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5A382526A7254ECA9C2E8D35BC43507C_12</vt:lpwstr>
  </property>
</Properties>
</file>